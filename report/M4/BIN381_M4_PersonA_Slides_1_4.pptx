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672E07-6C3D-4AEF-8439-237E215FFB06}" v="10" dt="2026-10-19T16:56:01.3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6"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xander Solomon" userId="81af70ec-ae71-433d-88a9-3b7cbf63168f" providerId="ADAL" clId="{19185622-C3F4-4CEF-A275-F75CF23C305D}"/>
    <pc:docChg chg="modSld">
      <pc:chgData name="Alexander Solomon" userId="81af70ec-ae71-433d-88a9-3b7cbf63168f" providerId="ADAL" clId="{19185622-C3F4-4CEF-A275-F75CF23C305D}" dt="2026-10-19T16:56:01.319" v="9" actId="767"/>
      <pc:docMkLst>
        <pc:docMk/>
      </pc:docMkLst>
      <pc:sldChg chg="addSp modSp">
        <pc:chgData name="Alexander Solomon" userId="81af70ec-ae71-433d-88a9-3b7cbf63168f" providerId="ADAL" clId="{19185622-C3F4-4CEF-A275-F75CF23C305D}" dt="2026-10-19T16:47:13.967" v="1" actId="767"/>
        <pc:sldMkLst>
          <pc:docMk/>
          <pc:sldMk cId="467632067" sldId="258"/>
        </pc:sldMkLst>
        <pc:spChg chg="add mod">
          <ac:chgData name="Alexander Solomon" userId="81af70ec-ae71-433d-88a9-3b7cbf63168f" providerId="ADAL" clId="{19185622-C3F4-4CEF-A275-F75CF23C305D}" dt="2026-10-19T16:45:48.658" v="0" actId="767"/>
          <ac:spMkLst>
            <pc:docMk/>
            <pc:sldMk cId="467632067" sldId="258"/>
            <ac:spMk id="3" creationId="{92BCFF48-3F33-E6B7-6337-4337D115CD31}"/>
          </ac:spMkLst>
        </pc:spChg>
        <pc:spChg chg="add mod">
          <ac:chgData name="Alexander Solomon" userId="81af70ec-ae71-433d-88a9-3b7cbf63168f" providerId="ADAL" clId="{19185622-C3F4-4CEF-A275-F75CF23C305D}" dt="2026-10-19T16:47:13.967" v="1" actId="767"/>
          <ac:spMkLst>
            <pc:docMk/>
            <pc:sldMk cId="467632067" sldId="258"/>
            <ac:spMk id="6" creationId="{5C2C44F7-D166-FB5F-7D0B-3458C77DA94B}"/>
          </ac:spMkLst>
        </pc:spChg>
      </pc:sldChg>
      <pc:sldChg chg="addSp modSp">
        <pc:chgData name="Alexander Solomon" userId="81af70ec-ae71-433d-88a9-3b7cbf63168f" providerId="ADAL" clId="{19185622-C3F4-4CEF-A275-F75CF23C305D}" dt="2026-10-19T16:56:01.319" v="9" actId="767"/>
        <pc:sldMkLst>
          <pc:docMk/>
          <pc:sldMk cId="556620780" sldId="259"/>
        </pc:sldMkLst>
        <pc:spChg chg="add mod">
          <ac:chgData name="Alexander Solomon" userId="81af70ec-ae71-433d-88a9-3b7cbf63168f" providerId="ADAL" clId="{19185622-C3F4-4CEF-A275-F75CF23C305D}" dt="2026-10-19T16:50:51.005" v="2" actId="767"/>
          <ac:spMkLst>
            <pc:docMk/>
            <pc:sldMk cId="556620780" sldId="259"/>
            <ac:spMk id="3" creationId="{FE9297A4-1992-4484-5CC0-1890A6C615D8}"/>
          </ac:spMkLst>
        </pc:spChg>
        <pc:spChg chg="add mod">
          <ac:chgData name="Alexander Solomon" userId="81af70ec-ae71-433d-88a9-3b7cbf63168f" providerId="ADAL" clId="{19185622-C3F4-4CEF-A275-F75CF23C305D}" dt="2026-10-19T16:55:25.509" v="8"/>
          <ac:spMkLst>
            <pc:docMk/>
            <pc:sldMk cId="556620780" sldId="259"/>
            <ac:spMk id="6" creationId="{0B20D662-6E1A-AFE4-9EDF-5CB8010C8DDE}"/>
          </ac:spMkLst>
        </pc:spChg>
        <pc:spChg chg="add mod">
          <ac:chgData name="Alexander Solomon" userId="81af70ec-ae71-433d-88a9-3b7cbf63168f" providerId="ADAL" clId="{19185622-C3F4-4CEF-A275-F75CF23C305D}" dt="2026-10-19T16:56:01.319" v="9" actId="767"/>
          <ac:spMkLst>
            <pc:docMk/>
            <pc:sldMk cId="556620780" sldId="259"/>
            <ac:spMk id="7" creationId="{0F3B1B2A-8E7E-D69D-CCB1-A24D0C4A1EC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02FBB2A-DAF9-4AD8-8DE3-EACB38669FBE}" type="datetimeFigureOut">
              <a:rPr lang="en-ZA" smtClean="0"/>
              <a:t>19 Oct 2026</a:t>
            </a:fld>
            <a:endParaRPr lang="en-Z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Z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A3DAEE-C2EF-4232-9F1C-BB47C51AA44A}" type="slidenum">
              <a:rPr lang="en-ZA" smtClean="0"/>
              <a:t>‹#›</a:t>
            </a:fld>
            <a:endParaRPr lang="en-ZA"/>
          </a:p>
        </p:txBody>
      </p:sp>
    </p:spTree>
    <p:extLst>
      <p:ext uri="{BB962C8B-B14F-4D97-AF65-F5344CB8AC3E}">
        <p14:creationId xmlns:p14="http://schemas.microsoft.com/office/powerpoint/2010/main" val="3806193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chose the threshold before we looked at the test data, with a rule agreed up front: find at least 80% of at-risk households at the fewest referrals. That lands on 0.24. On data the model had never seen it finds 80.7% of at-risk households, and 85.7% of the severely food insecure.</a:t>
            </a:r>
          </a:p>
          <a:p>
            <a:endParaRPr/>
          </a:p>
          <a:p>
            <a:r>
              <a:t>The cost is the orange line. Four in ten referrals turn out to be food secure, and we send three in five households for follow-up. That is a dial, not a fact: raise the threshold and you visit fewer households but miss more. The dashboard lets programme managers set it against the capacity they actually have.</a:t>
            </a:r>
          </a:p>
          <a:p>
            <a:endParaRPr/>
          </a:p>
          <a:p>
            <a:r>
              <a:t>A random forest scored slightly better (about 0.009 AUC). We kept the logistic model because every referral has to be explained to an official, and it gives one interpretable odds ratio per factor.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strongest single signal is not income level, it is income change. Whether a household is worse off than a year ago matters about two and a half times more than any other answer, and it can be asked at intake in one sentence.</a:t>
            </a:r>
          </a:p>
          <a:p>
            <a:endParaRPr/>
          </a:p>
          <a:p>
            <a:r>
              <a:t>Grant households are more food insecure, not less: 37.6% against 20.6%. That is not evidence that grants cause harm. Grants are means-tested, so they mark households that were already poor, and one survey wave cannot separate targeting from effect.</a:t>
            </a:r>
          </a:p>
          <a:p>
            <a:endParaRPr/>
          </a:p>
          <a:p>
            <a:r>
              <a:t>The right-hand chart is the honest limitation. The screen finds 94% of at-risk households earning under R2,500 and only 39% above R11,500. It is weakest exactly where food insecurity is least expected, so a lower-risk result is not clearance, and self-referral stays open.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the dashboard open before the talk starts.</a:t>
            </a:r>
          </a:p>
          <a:p>
            <a:r>
              <a:t>1. Overview page: six decision questions, every page answers one of them.</a:t>
            </a:r>
          </a:p>
          <a:p>
            <a:r>
              <a:t>2. 'How well the screen works': the four cards are the slide 5 numbers, live from the final dataset.</a:t>
            </a:r>
          </a:p>
          <a:p>
            <a:r>
              <a:t>3. Set the threshold to 0.30: recall drops from 80.7% to 67.8% and referrals from 59% to 44%, about 150 fewer households per thousand to visit and roughly one in eight at-risk households newly missed. Put it back to 0.24.</a:t>
            </a:r>
          </a:p>
          <a:p>
            <a:r>
              <a:t>4. 'Who the screen misses': click through income, grants and province. Income above R11,500 sits far outside the tolerance band, a documented limitation.</a:t>
            </a:r>
          </a:p>
          <a:p>
            <a:r>
              <a:t>5. 'What drives risk': income change at the top, odds ratios with confidence intervals.</a:t>
            </a:r>
          </a:p>
          <a:p>
            <a:r>
              <a:t>6. Hand over to Timothy for the Shiny app.</a:t>
            </a:r>
          </a:p>
          <a:p>
            <a:r>
              <a:t>If the live demo fails, use this screenshot and slides 5 and 6, and keep going.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51012" y="609601"/>
            <a:ext cx="8676222" cy="3200400"/>
          </a:xfrm>
        </p:spPr>
        <p:txBody>
          <a:bodyPr anchor="b">
            <a:normAutofit/>
          </a:bodyPr>
          <a:lstStyle>
            <a:lvl1pPr algn="ctr">
              <a:defRPr sz="4800">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en-US"/>
              <a:t>Click to edit Master title style</a:t>
            </a:r>
            <a:endParaRPr lang="en-US" dirty="0"/>
          </a:p>
        </p:txBody>
      </p:sp>
      <p:sp>
        <p:nvSpPr>
          <p:cNvPr id="3" name="Subtitle 2"/>
          <p:cNvSpPr>
            <a:spLocks noGrp="1"/>
          </p:cNvSpPr>
          <p:nvPr>
            <p:ph type="subTitle" idx="1"/>
          </p:nvPr>
        </p:nvSpPr>
        <p:spPr>
          <a:xfrm>
            <a:off x="1751012" y="3886200"/>
            <a:ext cx="8676222" cy="1905000"/>
          </a:xfrm>
        </p:spPr>
        <p:txBody>
          <a:bodyPr anchor="t">
            <a:normAutofit/>
          </a:bodyPr>
          <a:lstStyle>
            <a:lvl1pPr marL="0" indent="0" algn="ctr">
              <a:buNone/>
              <a:defRPr sz="2100">
                <a:gradFill flip="none" rotWithShape="1">
                  <a:gsLst>
                    <a:gs pos="0">
                      <a:schemeClr val="tx1"/>
                    </a:gs>
                    <a:gs pos="100000">
                      <a:schemeClr val="tx1">
                        <a:lumMod val="75000"/>
                      </a:schemeClr>
                    </a:gs>
                  </a:gsLst>
                  <a:lin ang="5400000" scaled="0"/>
                  <a:tileRect/>
                </a:gra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9617491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4743078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51013" y="3308581"/>
            <a:ext cx="8686800" cy="1468800"/>
          </a:xfrm>
        </p:spPr>
        <p:txBody>
          <a:bodyPr anchor="b"/>
          <a:lstStyle>
            <a:lvl1pPr algn="r">
              <a:defRPr sz="4000" b="0" cap="all"/>
            </a:lvl1pPr>
          </a:lstStyle>
          <a:p>
            <a:r>
              <a:rPr lang="en-US"/>
              <a:t>Click to edit Master title style</a:t>
            </a:r>
            <a:endParaRPr lang="en-US" dirty="0"/>
          </a:p>
        </p:txBody>
      </p:sp>
      <p:sp>
        <p:nvSpPr>
          <p:cNvPr id="3" name="Text Placeholder 2"/>
          <p:cNvSpPr>
            <a:spLocks noGrp="1"/>
          </p:cNvSpPr>
          <p:nvPr>
            <p:ph type="body" idx="1"/>
          </p:nvPr>
        </p:nvSpPr>
        <p:spPr>
          <a:xfrm>
            <a:off x="1751011" y="4777381"/>
            <a:ext cx="8686801" cy="860400"/>
          </a:xfrm>
        </p:spPr>
        <p:txBody>
          <a:bodyPr anchor="t">
            <a:normAutofit/>
          </a:bodyPr>
          <a:lstStyle>
            <a:lvl1pPr marL="0" indent="0" algn="r">
              <a:buNone/>
              <a:defRPr sz="20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4422205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2" y="2666999"/>
            <a:ext cx="4876800"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0612" y="2667000"/>
            <a:ext cx="4876800"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9290010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429280" y="2658533"/>
            <a:ext cx="4588931"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2" y="3243262"/>
            <a:ext cx="4876800"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43133" y="2667000"/>
            <a:ext cx="4604280"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0612" y="3243262"/>
            <a:ext cx="4876801"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8508DA-1D88-4EFE-8D34-BDD707923C50}" type="datetimeFigureOut">
              <a:rPr lang="en-ZA" smtClean="0"/>
              <a:t>19 Oct 2026</a:t>
            </a:fld>
            <a:endParaRPr lang="en-ZA"/>
          </a:p>
        </p:txBody>
      </p:sp>
      <p:sp>
        <p:nvSpPr>
          <p:cNvPr id="8" name="Footer Placeholder 7"/>
          <p:cNvSpPr>
            <a:spLocks noGrp="1"/>
          </p:cNvSpPr>
          <p:nvPr>
            <p:ph type="ftr" sz="quarter" idx="11"/>
          </p:nvPr>
        </p:nvSpPr>
        <p:spPr/>
        <p:txBody>
          <a:bodyPr/>
          <a:lstStyle/>
          <a:p>
            <a:endParaRPr lang="en-ZA"/>
          </a:p>
        </p:txBody>
      </p:sp>
      <p:sp>
        <p:nvSpPr>
          <p:cNvPr id="9" name="Slide Number Placeholder 8"/>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1711233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8508DA-1D88-4EFE-8D34-BDD707923C50}" type="datetimeFigureOut">
              <a:rPr lang="en-ZA" smtClean="0"/>
              <a:t>19 Oct 2026</a:t>
            </a:fld>
            <a:endParaRPr lang="en-ZA"/>
          </a:p>
        </p:txBody>
      </p:sp>
      <p:sp>
        <p:nvSpPr>
          <p:cNvPr id="4" name="Footer Placeholder 3"/>
          <p:cNvSpPr>
            <a:spLocks noGrp="1"/>
          </p:cNvSpPr>
          <p:nvPr>
            <p:ph type="ftr" sz="quarter" idx="11"/>
          </p:nvPr>
        </p:nvSpPr>
        <p:spPr/>
        <p:txBody>
          <a:bodyPr/>
          <a:lstStyle/>
          <a:p>
            <a:endParaRPr lang="en-ZA"/>
          </a:p>
        </p:txBody>
      </p:sp>
      <p:sp>
        <p:nvSpPr>
          <p:cNvPr id="5" name="Slide Number Placeholder 4"/>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821966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8508DA-1D88-4EFE-8D34-BDD707923C50}" type="datetimeFigureOut">
              <a:rPr lang="en-ZA" smtClean="0"/>
              <a:t>19 Oct 2026</a:t>
            </a:fld>
            <a:endParaRPr lang="en-ZA"/>
          </a:p>
        </p:txBody>
      </p:sp>
      <p:sp>
        <p:nvSpPr>
          <p:cNvPr id="3" name="Footer Placeholder 2"/>
          <p:cNvSpPr>
            <a:spLocks noGrp="1"/>
          </p:cNvSpPr>
          <p:nvPr>
            <p:ph type="ftr" sz="quarter" idx="11"/>
          </p:nvPr>
        </p:nvSpPr>
        <p:spPr/>
        <p:txBody>
          <a:bodyPr/>
          <a:lstStyle/>
          <a:p>
            <a:endParaRPr lang="en-ZA"/>
          </a:p>
        </p:txBody>
      </p:sp>
      <p:sp>
        <p:nvSpPr>
          <p:cNvPr id="4" name="Slide Number Placeholder 3"/>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4237230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3549121" cy="1371600"/>
          </a:xfr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5103812" y="609601"/>
            <a:ext cx="5943601" cy="51816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1411" y="2971800"/>
            <a:ext cx="3549121" cy="1828800"/>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0947297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5334001" cy="1371600"/>
          </a:xfr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433733" y="-18288"/>
            <a:ext cx="3276599" cy="6903720"/>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41411" y="2971800"/>
            <a:ext cx="5334001" cy="1828800"/>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399212" y="5883275"/>
            <a:ext cx="914400" cy="365125"/>
          </a:xfrm>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a:xfrm>
            <a:off x="1141412" y="5883275"/>
            <a:ext cx="5105400" cy="365125"/>
          </a:xfrm>
        </p:spPr>
        <p:txBody>
          <a:bodyPr/>
          <a:lstStyle/>
          <a:p>
            <a:endParaRPr lang="en-ZA"/>
          </a:p>
        </p:txBody>
      </p:sp>
      <p:sp>
        <p:nvSpPr>
          <p:cNvPr id="7" name="Slide Number Placeholder 6"/>
          <p:cNvSpPr>
            <a:spLocks noGrp="1"/>
          </p:cNvSpPr>
          <p:nvPr>
            <p:ph type="sldNum" sz="quarter" idx="12"/>
          </p:nvPr>
        </p:nvSpPr>
        <p:spPr>
          <a:xfrm>
            <a:off x="10742612" y="5883275"/>
            <a:ext cx="322567" cy="365125"/>
          </a:xfrm>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1498168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4732865"/>
            <a:ext cx="99060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9796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41413" y="5299603"/>
            <a:ext cx="9906000" cy="493712"/>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0413409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3124199"/>
          </a:xfrm>
        </p:spPr>
        <p:txBody>
          <a:bodyPr anchor="ctr">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6864772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41411" y="4343400"/>
            <a:ext cx="9906000" cy="1447800"/>
          </a:xfrm>
        </p:spPr>
        <p:txBody>
          <a:bodyPr vert="horz" lIns="91440" tIns="45720" rIns="91440" bIns="45720" rtlCol="0" anchor="ctr">
            <a:normAutofit/>
          </a:bodyPr>
          <a:lstStyle>
            <a:lvl1pPr>
              <a:buNone/>
              <a:defRPr lang="en-US" sz="2000">
                <a:gradFill flip="none" rotWithShape="1">
                  <a:gsLst>
                    <a:gs pos="0">
                      <a:schemeClr val="tx1"/>
                    </a:gs>
                    <a:gs pos="100000">
                      <a:schemeClr val="tx1">
                        <a:lumMod val="75000"/>
                      </a:schemeClr>
                    </a:gs>
                  </a:gsLst>
                  <a:lin ang="5400000" scaled="0"/>
                  <a:tileRect/>
                </a:gradFill>
              </a:defRPr>
            </a:lvl1pPr>
          </a:lstStyle>
          <a:p>
            <a:pPr marL="0" lvl="0" indent="0">
              <a:buNone/>
            </a:pPr>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2953140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2" y="3308581"/>
            <a:ext cx="9906000" cy="1468800"/>
          </a:xfrm>
        </p:spPr>
        <p:txBody>
          <a:bodyPr anchor="b">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1141410" y="4777381"/>
            <a:ext cx="9906001" cy="860400"/>
          </a:xfrm>
        </p:spPr>
        <p:txBody>
          <a:bodyPr vert="horz" lIns="91440" tIns="45720" rIns="91440" bIns="45720" rtlCol="0" anchor="t">
            <a:normAutofit/>
          </a:bodyPr>
          <a:lstStyle>
            <a:lvl1pPr>
              <a:defRPr lang="en-US" sz="2000">
                <a:gradFill flip="none" rotWithShape="1">
                  <a:gsLst>
                    <a:gs pos="0">
                      <a:schemeClr val="tx1"/>
                    </a:gs>
                    <a:gs pos="100000">
                      <a:schemeClr val="tx1">
                        <a:lumMod val="75000"/>
                      </a:schemeClr>
                    </a:gs>
                  </a:gsLst>
                  <a:lin ang="5400000" scaled="0"/>
                  <a:tileRect/>
                </a:gradFill>
              </a:defRPr>
            </a:lvl1pPr>
          </a:lstStyle>
          <a:p>
            <a:pPr marL="0" lvl="0" indent="0">
              <a:buNone/>
            </a:pPr>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866223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gradFill flip="none" rotWithShape="1">
                  <a:gsLst>
                    <a:gs pos="0">
                      <a:schemeClr val="tx1"/>
                    </a:gs>
                    <a:gs pos="100000">
                      <a:schemeClr val="tx1">
                        <a:lumMod val="75000"/>
                      </a:schemeClr>
                    </a:gs>
                  </a:gsLst>
                  <a:lin ang="5400000" scaled="0"/>
                  <a:tileRect/>
                </a:gra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141412" y="3886200"/>
            <a:ext cx="9906000" cy="889000"/>
          </a:xfrm>
        </p:spPr>
        <p:txBody>
          <a:bodyPr vert="horz" lIns="91440" tIns="45720" rIns="91440" bIns="45720" rtlCol="0" anchor="b">
            <a:normAutofit/>
          </a:bodyPr>
          <a:lstStyle>
            <a:lvl1pPr>
              <a:buNone/>
              <a:defRPr lang="en-US" sz="2400"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775200"/>
            <a:ext cx="9906000" cy="1016000"/>
          </a:xfrm>
        </p:spPr>
        <p:txBody>
          <a:bodyPr anchor="t">
            <a:normAutofit/>
          </a:bodyPr>
          <a:lstStyle>
            <a:lvl1pPr marL="0" indent="0" algn="l">
              <a:buNone/>
              <a:defRPr sz="18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31869832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141412" y="3505200"/>
            <a:ext cx="9906000" cy="838200"/>
          </a:xfrm>
        </p:spPr>
        <p:txBody>
          <a:bodyPr vert="horz" lIns="91440" tIns="45720" rIns="91440" bIns="45720" rtlCol="0" anchor="b">
            <a:normAutofit/>
          </a:bodyPr>
          <a:lstStyle>
            <a:lvl1pPr>
              <a:buNone/>
              <a:defRPr lang="en-US" sz="2800"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t">
            <a:normAutofit/>
          </a:bodyPr>
          <a:lstStyle>
            <a:lvl1pPr marL="0" indent="0" algn="l">
              <a:buNone/>
              <a:defRPr sz="18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9109827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8078515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609599"/>
            <a:ext cx="2210514"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2" y="609600"/>
            <a:ext cx="7543800"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4166812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41413" y="609600"/>
            <a:ext cx="9905998" cy="19050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1413" y="2666999"/>
            <a:ext cx="9905998"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837612" y="5883275"/>
            <a:ext cx="1600200"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458508DA-1D88-4EFE-8D34-BDD707923C50}" type="datetimeFigureOut">
              <a:rPr lang="en-ZA" smtClean="0"/>
              <a:t>19 Oct 2026</a:t>
            </a:fld>
            <a:endParaRPr lang="en-ZA"/>
          </a:p>
        </p:txBody>
      </p:sp>
      <p:sp>
        <p:nvSpPr>
          <p:cNvPr id="5" name="Footer Placeholder 4"/>
          <p:cNvSpPr>
            <a:spLocks noGrp="1"/>
          </p:cNvSpPr>
          <p:nvPr>
            <p:ph type="ftr" sz="quarter" idx="3"/>
          </p:nvPr>
        </p:nvSpPr>
        <p:spPr>
          <a:xfrm>
            <a:off x="1141412" y="5883275"/>
            <a:ext cx="7543800" cy="365125"/>
          </a:xfrm>
          <a:prstGeom prst="rect">
            <a:avLst/>
          </a:prstGeom>
        </p:spPr>
        <p:txBody>
          <a:bodyPr vert="horz" lIns="91440" tIns="45720" rIns="91440" bIns="45720" rtlCol="0" anchor="ctr"/>
          <a:lstStyle>
            <a:lvl1pPr algn="l">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en-ZA"/>
          </a:p>
        </p:txBody>
      </p:sp>
      <p:sp>
        <p:nvSpPr>
          <p:cNvPr id="6" name="Slide Number Placeholder 5"/>
          <p:cNvSpPr>
            <a:spLocks noGrp="1"/>
          </p:cNvSpPr>
          <p:nvPr>
            <p:ph type="sldNum" sz="quarter" idx="4"/>
          </p:nvPr>
        </p:nvSpPr>
        <p:spPr>
          <a:xfrm>
            <a:off x="10514012" y="5883275"/>
            <a:ext cx="551167"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09103FB4-0C10-4E2C-BA31-83FCBF4FB638}" type="slidenum">
              <a:rPr lang="en-ZA" smtClean="0"/>
              <a:t>‹#›</a:t>
            </a:fld>
            <a:endParaRPr lang="en-ZA"/>
          </a:p>
        </p:txBody>
      </p:sp>
    </p:spTree>
    <p:extLst>
      <p:ext uri="{BB962C8B-B14F-4D97-AF65-F5344CB8AC3E}">
        <p14:creationId xmlns:p14="http://schemas.microsoft.com/office/powerpoint/2010/main" val="3365737289"/>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3200" kern="1200" cap="all">
          <a:ln w="3175" cmpd="sng">
            <a:noFill/>
          </a:ln>
          <a:gradFill flip="none" rotWithShape="1">
            <a:gsLst>
              <a:gs pos="0">
                <a:schemeClr val="tx1"/>
              </a:gs>
              <a:gs pos="100000">
                <a:schemeClr val="tx1">
                  <a:lumMod val="65000"/>
                </a:schemeClr>
              </a:gs>
            </a:gsLst>
            <a:lin ang="558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100000"/>
        <a:buFont typeface="Arial"/>
        <a:buChar char="•"/>
        <a:defRPr sz="20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100000"/>
        <a:buFont typeface="Arial"/>
        <a:buChar char="•"/>
        <a:defRPr sz="18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100000"/>
        <a:buFont typeface="Arial"/>
        <a:buChar char="•"/>
        <a:defRPr sz="16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100000"/>
        <a:buFont typeface="Arial"/>
        <a:buChar char="•"/>
        <a:defRPr sz="14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100000"/>
        <a:buFont typeface="Arial"/>
        <a:buChar char="•"/>
        <a:defRPr sz="14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0BB4934-EA1F-82CA-E9C5-FAFF9DDB34D9}"/>
              </a:ext>
            </a:extLst>
          </p:cNvPr>
          <p:cNvSpPr>
            <a:spLocks noGrp="1"/>
          </p:cNvSpPr>
          <p:nvPr>
            <p:ph type="title"/>
          </p:nvPr>
        </p:nvSpPr>
        <p:spPr>
          <a:xfrm>
            <a:off x="1141413" y="609600"/>
            <a:ext cx="9905998" cy="666750"/>
          </a:xfrm>
        </p:spPr>
        <p:txBody>
          <a:bodyPr>
            <a:normAutofit/>
          </a:bodyPr>
          <a:lstStyle/>
          <a:p>
            <a:r>
              <a:rPr lang="en-ZA" dirty="0"/>
              <a:t>Bin 381 Milestone 4 Group 1</a:t>
            </a:r>
          </a:p>
        </p:txBody>
      </p:sp>
      <p:sp>
        <p:nvSpPr>
          <p:cNvPr id="8" name="TextBox 7">
            <a:extLst>
              <a:ext uri="{FF2B5EF4-FFF2-40B4-BE49-F238E27FC236}">
                <a16:creationId xmlns:a16="http://schemas.microsoft.com/office/drawing/2014/main" id="{04C0A0DE-9A5B-885A-BAEE-C6DDCD0C63AF}"/>
              </a:ext>
            </a:extLst>
          </p:cNvPr>
          <p:cNvSpPr txBox="1"/>
          <p:nvPr/>
        </p:nvSpPr>
        <p:spPr>
          <a:xfrm>
            <a:off x="1141413" y="1627094"/>
            <a:ext cx="9905998" cy="2246769"/>
          </a:xfrm>
          <a:prstGeom prst="rect">
            <a:avLst/>
          </a:prstGeom>
          <a:noFill/>
        </p:spPr>
        <p:txBody>
          <a:bodyPr wrap="square" rtlCol="0">
            <a:spAutoFit/>
          </a:bodyPr>
          <a:lstStyle/>
          <a:p>
            <a:r>
              <a:rPr lang="en-ZA" sz="3600" dirty="0"/>
              <a:t>Which household should food-security teams visit first?</a:t>
            </a:r>
          </a:p>
          <a:p>
            <a:endParaRPr lang="en-ZA" sz="2800" dirty="0"/>
          </a:p>
          <a:p>
            <a:r>
              <a:rPr lang="en-ZA" sz="2000" dirty="0">
                <a:latin typeface="Aptos" panose="020B0004020202020204" pitchFamily="34" charset="0"/>
              </a:rPr>
              <a:t>A screening aid built from the General Household Survey 2024, for decision-makers with limited budgets.</a:t>
            </a:r>
          </a:p>
        </p:txBody>
      </p:sp>
      <p:sp>
        <p:nvSpPr>
          <p:cNvPr id="9" name="TextBox 8">
            <a:extLst>
              <a:ext uri="{FF2B5EF4-FFF2-40B4-BE49-F238E27FC236}">
                <a16:creationId xmlns:a16="http://schemas.microsoft.com/office/drawing/2014/main" id="{7714C2C6-7492-7263-B764-5B68B84D549A}"/>
              </a:ext>
            </a:extLst>
          </p:cNvPr>
          <p:cNvSpPr txBox="1"/>
          <p:nvPr/>
        </p:nvSpPr>
        <p:spPr>
          <a:xfrm>
            <a:off x="1141413" y="4430687"/>
            <a:ext cx="1746250" cy="800219"/>
          </a:xfrm>
          <a:prstGeom prst="rect">
            <a:avLst/>
          </a:prstGeom>
          <a:noFill/>
        </p:spPr>
        <p:txBody>
          <a:bodyPr wrap="square" rtlCol="0">
            <a:spAutoFit/>
          </a:bodyPr>
          <a:lstStyle/>
          <a:p>
            <a:r>
              <a:rPr lang="en-ZA" sz="3600" dirty="0">
                <a:latin typeface="Aptos" panose="020B0004020202020204" pitchFamily="34" charset="0"/>
              </a:rPr>
              <a:t>20,940</a:t>
            </a:r>
          </a:p>
          <a:p>
            <a:r>
              <a:rPr lang="en-ZA" sz="1000" dirty="0">
                <a:latin typeface="Aptos" panose="020B0004020202020204" pitchFamily="34" charset="0"/>
              </a:rPr>
              <a:t>Households in the survey</a:t>
            </a:r>
          </a:p>
        </p:txBody>
      </p:sp>
      <p:sp>
        <p:nvSpPr>
          <p:cNvPr id="10" name="TextBox 9">
            <a:extLst>
              <a:ext uri="{FF2B5EF4-FFF2-40B4-BE49-F238E27FC236}">
                <a16:creationId xmlns:a16="http://schemas.microsoft.com/office/drawing/2014/main" id="{9972C68A-4B96-FF22-F632-6450812855CF}"/>
              </a:ext>
            </a:extLst>
          </p:cNvPr>
          <p:cNvSpPr txBox="1"/>
          <p:nvPr/>
        </p:nvSpPr>
        <p:spPr>
          <a:xfrm>
            <a:off x="3028950" y="4430686"/>
            <a:ext cx="1746250" cy="800219"/>
          </a:xfrm>
          <a:prstGeom prst="rect">
            <a:avLst/>
          </a:prstGeom>
          <a:noFill/>
        </p:spPr>
        <p:txBody>
          <a:bodyPr wrap="square" rtlCol="0">
            <a:spAutoFit/>
          </a:bodyPr>
          <a:lstStyle/>
          <a:p>
            <a:r>
              <a:rPr lang="en-ZA" sz="3600" dirty="0">
                <a:latin typeface="Aptos" panose="020B0004020202020204" pitchFamily="34" charset="0"/>
              </a:rPr>
              <a:t>28.3%</a:t>
            </a:r>
          </a:p>
          <a:p>
            <a:r>
              <a:rPr lang="en-ZA" sz="1000" dirty="0">
                <a:latin typeface="Aptos" panose="020B0004020202020204" pitchFamily="34" charset="0"/>
              </a:rPr>
              <a:t>At risk of food insecurity</a:t>
            </a:r>
          </a:p>
        </p:txBody>
      </p:sp>
      <p:sp>
        <p:nvSpPr>
          <p:cNvPr id="11" name="TextBox 10">
            <a:extLst>
              <a:ext uri="{FF2B5EF4-FFF2-40B4-BE49-F238E27FC236}">
                <a16:creationId xmlns:a16="http://schemas.microsoft.com/office/drawing/2014/main" id="{6E5899DC-1212-4281-CDE3-399F959EB3E4}"/>
              </a:ext>
            </a:extLst>
          </p:cNvPr>
          <p:cNvSpPr txBox="1"/>
          <p:nvPr/>
        </p:nvSpPr>
        <p:spPr>
          <a:xfrm>
            <a:off x="4916487" y="4430686"/>
            <a:ext cx="2208213" cy="800219"/>
          </a:xfrm>
          <a:prstGeom prst="rect">
            <a:avLst/>
          </a:prstGeom>
          <a:noFill/>
        </p:spPr>
        <p:txBody>
          <a:bodyPr wrap="square" rtlCol="0">
            <a:spAutoFit/>
          </a:bodyPr>
          <a:lstStyle/>
          <a:p>
            <a:r>
              <a:rPr lang="en-ZA" sz="3600" dirty="0">
                <a:latin typeface="Aptos" panose="020B0004020202020204" pitchFamily="34" charset="0"/>
              </a:rPr>
              <a:t>A screen</a:t>
            </a:r>
          </a:p>
          <a:p>
            <a:r>
              <a:rPr lang="en-ZA" sz="1000" dirty="0">
                <a:latin typeface="Aptos" panose="020B0004020202020204" pitchFamily="34" charset="0"/>
              </a:rPr>
              <a:t>Not an eligibility test</a:t>
            </a:r>
          </a:p>
        </p:txBody>
      </p:sp>
      <p:sp>
        <p:nvSpPr>
          <p:cNvPr id="12" name="TextBox 11">
            <a:extLst>
              <a:ext uri="{FF2B5EF4-FFF2-40B4-BE49-F238E27FC236}">
                <a16:creationId xmlns:a16="http://schemas.microsoft.com/office/drawing/2014/main" id="{5F1637ED-D4E7-0E36-7C47-31024FE9134B}"/>
              </a:ext>
            </a:extLst>
          </p:cNvPr>
          <p:cNvSpPr txBox="1"/>
          <p:nvPr/>
        </p:nvSpPr>
        <p:spPr>
          <a:xfrm>
            <a:off x="1141413" y="5787728"/>
            <a:ext cx="6540500" cy="246221"/>
          </a:xfrm>
          <a:prstGeom prst="rect">
            <a:avLst/>
          </a:prstGeom>
          <a:noFill/>
        </p:spPr>
        <p:txBody>
          <a:bodyPr wrap="square" rtlCol="0">
            <a:spAutoFit/>
          </a:bodyPr>
          <a:lstStyle/>
          <a:p>
            <a:r>
              <a:rPr lang="en-ZA" sz="1000" dirty="0">
                <a:latin typeface="Aptos" panose="020B0004020202020204" pitchFamily="34" charset="0"/>
              </a:rPr>
              <a:t>Alexander Solomon ● Rudi Jan du Plessis ● Timothy </a:t>
            </a:r>
            <a:r>
              <a:rPr lang="en-ZA" sz="1000" dirty="0" err="1">
                <a:latin typeface="Aptos" panose="020B0004020202020204" pitchFamily="34" charset="0"/>
              </a:rPr>
              <a:t>Wubbeling</a:t>
            </a:r>
            <a:endParaRPr lang="en-ZA" sz="1000" dirty="0">
              <a:latin typeface="Aptos" panose="020B0004020202020204" pitchFamily="34" charset="0"/>
            </a:endParaRPr>
          </a:p>
        </p:txBody>
      </p:sp>
    </p:spTree>
    <p:extLst>
      <p:ext uri="{BB962C8B-B14F-4D97-AF65-F5344CB8AC3E}">
        <p14:creationId xmlns:p14="http://schemas.microsoft.com/office/powerpoint/2010/main" val="4912888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262907E-D7DF-3BA8-D941-EF8219BC19F8}"/>
              </a:ext>
            </a:extLst>
          </p:cNvPr>
          <p:cNvSpPr>
            <a:spLocks noGrp="1"/>
          </p:cNvSpPr>
          <p:nvPr>
            <p:ph type="title"/>
          </p:nvPr>
        </p:nvSpPr>
        <p:spPr>
          <a:xfrm>
            <a:off x="1141413" y="609600"/>
            <a:ext cx="9905998" cy="444500"/>
          </a:xfrm>
        </p:spPr>
        <p:txBody>
          <a:bodyPr>
            <a:noAutofit/>
          </a:bodyPr>
          <a:lstStyle/>
          <a:p>
            <a:r>
              <a:rPr lang="en-ZA" dirty="0"/>
              <a:t>Goal and Approach</a:t>
            </a:r>
          </a:p>
        </p:txBody>
      </p:sp>
      <p:sp>
        <p:nvSpPr>
          <p:cNvPr id="4" name="TextBox 3">
            <a:extLst>
              <a:ext uri="{FF2B5EF4-FFF2-40B4-BE49-F238E27FC236}">
                <a16:creationId xmlns:a16="http://schemas.microsoft.com/office/drawing/2014/main" id="{01EF07A2-6116-D802-106F-48254DA98932}"/>
              </a:ext>
            </a:extLst>
          </p:cNvPr>
          <p:cNvSpPr txBox="1"/>
          <p:nvPr/>
        </p:nvSpPr>
        <p:spPr>
          <a:xfrm>
            <a:off x="1141413" y="1257300"/>
            <a:ext cx="7245350" cy="461665"/>
          </a:xfrm>
          <a:prstGeom prst="rect">
            <a:avLst/>
          </a:prstGeom>
          <a:noFill/>
        </p:spPr>
        <p:txBody>
          <a:bodyPr wrap="square" rtlCol="0">
            <a:spAutoFit/>
          </a:bodyPr>
          <a:lstStyle/>
          <a:p>
            <a:r>
              <a:rPr lang="en-ZA" sz="2400" dirty="0">
                <a:latin typeface="Aptos" panose="020B0004020202020204" pitchFamily="34" charset="0"/>
              </a:rPr>
              <a:t>Three goals, six phases, three changes of mind</a:t>
            </a:r>
          </a:p>
        </p:txBody>
      </p:sp>
      <p:sp>
        <p:nvSpPr>
          <p:cNvPr id="5" name="TextBox 4">
            <a:extLst>
              <a:ext uri="{FF2B5EF4-FFF2-40B4-BE49-F238E27FC236}">
                <a16:creationId xmlns:a16="http://schemas.microsoft.com/office/drawing/2014/main" id="{12FCCC44-0FC1-C494-3CBB-7AC7E0AEA0AC}"/>
              </a:ext>
            </a:extLst>
          </p:cNvPr>
          <p:cNvSpPr txBox="1"/>
          <p:nvPr/>
        </p:nvSpPr>
        <p:spPr>
          <a:xfrm>
            <a:off x="1212850" y="1943100"/>
            <a:ext cx="2654300" cy="861774"/>
          </a:xfrm>
          <a:prstGeom prst="rect">
            <a:avLst/>
          </a:prstGeom>
          <a:solidFill>
            <a:schemeClr val="bg1">
              <a:lumMod val="65000"/>
              <a:lumOff val="35000"/>
            </a:schemeClr>
          </a:solidFill>
        </p:spPr>
        <p:style>
          <a:lnRef idx="2">
            <a:schemeClr val="dk1"/>
          </a:lnRef>
          <a:fillRef idx="1">
            <a:schemeClr val="lt1"/>
          </a:fillRef>
          <a:effectRef idx="0">
            <a:schemeClr val="dk1"/>
          </a:effectRef>
          <a:fontRef idx="minor">
            <a:schemeClr val="dk1"/>
          </a:fontRef>
        </p:style>
        <p:txBody>
          <a:bodyPr wrap="square" rtlCol="0">
            <a:spAutoFit/>
          </a:bodyPr>
          <a:lstStyle/>
          <a:p>
            <a:r>
              <a:rPr lang="en-ZA" b="1" u="sng" dirty="0">
                <a:effectLst>
                  <a:outerShdw blurRad="38100" dist="38100" dir="2700000" algn="tl">
                    <a:srgbClr val="000000">
                      <a:alpha val="43137"/>
                    </a:srgbClr>
                  </a:outerShdw>
                </a:effectLst>
                <a:latin typeface="Aptos" panose="020B0004020202020204" pitchFamily="34" charset="0"/>
              </a:rPr>
              <a:t>Indicators</a:t>
            </a:r>
          </a:p>
          <a:p>
            <a:r>
              <a:rPr lang="en-ZA" sz="1600" dirty="0">
                <a:latin typeface="Aptos" panose="020B0004020202020204" pitchFamily="34" charset="0"/>
              </a:rPr>
              <a:t>Where food insecurity sits and who is affected</a:t>
            </a:r>
          </a:p>
        </p:txBody>
      </p:sp>
      <p:sp>
        <p:nvSpPr>
          <p:cNvPr id="7" name="TextBox 6">
            <a:extLst>
              <a:ext uri="{FF2B5EF4-FFF2-40B4-BE49-F238E27FC236}">
                <a16:creationId xmlns:a16="http://schemas.microsoft.com/office/drawing/2014/main" id="{11EB785D-0E5E-DF08-A8CF-EE23E7D48DC6}"/>
              </a:ext>
            </a:extLst>
          </p:cNvPr>
          <p:cNvSpPr txBox="1"/>
          <p:nvPr/>
        </p:nvSpPr>
        <p:spPr>
          <a:xfrm>
            <a:off x="1212850" y="2998113"/>
            <a:ext cx="2654300" cy="861774"/>
          </a:xfrm>
          <a:prstGeom prst="rect">
            <a:avLst/>
          </a:prstGeom>
          <a:solidFill>
            <a:schemeClr val="bg1">
              <a:lumMod val="65000"/>
              <a:lumOff val="35000"/>
            </a:schemeClr>
          </a:solidFill>
        </p:spPr>
        <p:style>
          <a:lnRef idx="2">
            <a:schemeClr val="dk1"/>
          </a:lnRef>
          <a:fillRef idx="1">
            <a:schemeClr val="lt1"/>
          </a:fillRef>
          <a:effectRef idx="0">
            <a:schemeClr val="dk1"/>
          </a:effectRef>
          <a:fontRef idx="minor">
            <a:schemeClr val="dk1"/>
          </a:fontRef>
        </p:style>
        <p:txBody>
          <a:bodyPr wrap="square" rtlCol="0">
            <a:spAutoFit/>
          </a:bodyPr>
          <a:lstStyle/>
          <a:p>
            <a:r>
              <a:rPr lang="en-ZA" b="1" u="sng" dirty="0">
                <a:effectLst>
                  <a:outerShdw blurRad="38100" dist="38100" dir="2700000" algn="tl">
                    <a:srgbClr val="000000">
                      <a:alpha val="43137"/>
                    </a:srgbClr>
                  </a:outerShdw>
                </a:effectLst>
                <a:latin typeface="Aptos" panose="020B0004020202020204" pitchFamily="34" charset="0"/>
              </a:rPr>
              <a:t>Classification model</a:t>
            </a:r>
          </a:p>
          <a:p>
            <a:r>
              <a:rPr lang="en-ZA" sz="1600" dirty="0">
                <a:latin typeface="Aptos" panose="020B0004020202020204" pitchFamily="34" charset="0"/>
              </a:rPr>
              <a:t>Flag households that are likely to be at risk</a:t>
            </a:r>
          </a:p>
        </p:txBody>
      </p:sp>
      <p:sp>
        <p:nvSpPr>
          <p:cNvPr id="9" name="TextBox 8">
            <a:extLst>
              <a:ext uri="{FF2B5EF4-FFF2-40B4-BE49-F238E27FC236}">
                <a16:creationId xmlns:a16="http://schemas.microsoft.com/office/drawing/2014/main" id="{829DE58F-75DD-F34F-8ED5-A9FE0D865760}"/>
              </a:ext>
            </a:extLst>
          </p:cNvPr>
          <p:cNvSpPr txBox="1"/>
          <p:nvPr/>
        </p:nvSpPr>
        <p:spPr>
          <a:xfrm>
            <a:off x="1212850" y="4053126"/>
            <a:ext cx="2654300" cy="861774"/>
          </a:xfrm>
          <a:prstGeom prst="rect">
            <a:avLst/>
          </a:prstGeom>
          <a:solidFill>
            <a:schemeClr val="bg1">
              <a:lumMod val="65000"/>
              <a:lumOff val="35000"/>
            </a:schemeClr>
          </a:solidFill>
        </p:spPr>
        <p:style>
          <a:lnRef idx="2">
            <a:schemeClr val="dk1"/>
          </a:lnRef>
          <a:fillRef idx="1">
            <a:schemeClr val="lt1"/>
          </a:fillRef>
          <a:effectRef idx="0">
            <a:schemeClr val="dk1"/>
          </a:effectRef>
          <a:fontRef idx="minor">
            <a:schemeClr val="dk1"/>
          </a:fontRef>
        </p:style>
        <p:txBody>
          <a:bodyPr wrap="square" rtlCol="0">
            <a:spAutoFit/>
          </a:bodyPr>
          <a:lstStyle/>
          <a:p>
            <a:r>
              <a:rPr lang="en-ZA" b="1" u="sng" dirty="0">
                <a:effectLst>
                  <a:outerShdw blurRad="38100" dist="38100" dir="2700000" algn="tl">
                    <a:srgbClr val="000000">
                      <a:alpha val="43137"/>
                    </a:srgbClr>
                  </a:outerShdw>
                </a:effectLst>
                <a:latin typeface="Aptos" panose="020B0004020202020204" pitchFamily="34" charset="0"/>
              </a:rPr>
              <a:t>Decision dashboard</a:t>
            </a:r>
          </a:p>
          <a:p>
            <a:r>
              <a:rPr lang="en-ZA" sz="1600" dirty="0">
                <a:latin typeface="Aptos" panose="020B0004020202020204" pitchFamily="34" charset="0"/>
              </a:rPr>
              <a:t>Where food insecurity sits and who is affected</a:t>
            </a:r>
          </a:p>
        </p:txBody>
      </p:sp>
      <p:pic>
        <p:nvPicPr>
          <p:cNvPr id="11" name="Picture 10">
            <a:extLst>
              <a:ext uri="{FF2B5EF4-FFF2-40B4-BE49-F238E27FC236}">
                <a16:creationId xmlns:a16="http://schemas.microsoft.com/office/drawing/2014/main" id="{DD045EB6-B942-9EA5-8411-4738CB636F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4088" y="1905684"/>
            <a:ext cx="5647059" cy="3046632"/>
          </a:xfrm>
          <a:prstGeom prst="rect">
            <a:avLst/>
          </a:prstGeom>
        </p:spPr>
      </p:pic>
      <p:sp>
        <p:nvSpPr>
          <p:cNvPr id="15" name="TextBox 14">
            <a:extLst>
              <a:ext uri="{FF2B5EF4-FFF2-40B4-BE49-F238E27FC236}">
                <a16:creationId xmlns:a16="http://schemas.microsoft.com/office/drawing/2014/main" id="{DB2827B0-13AC-57F2-B057-C334B122F2BC}"/>
              </a:ext>
            </a:extLst>
          </p:cNvPr>
          <p:cNvSpPr txBox="1"/>
          <p:nvPr/>
        </p:nvSpPr>
        <p:spPr>
          <a:xfrm>
            <a:off x="1212850" y="6002179"/>
            <a:ext cx="6877050" cy="246221"/>
          </a:xfrm>
          <a:prstGeom prst="rect">
            <a:avLst/>
          </a:prstGeom>
          <a:noFill/>
        </p:spPr>
        <p:txBody>
          <a:bodyPr wrap="square">
            <a:spAutoFit/>
          </a:bodyPr>
          <a:lstStyle/>
          <a:p>
            <a:r>
              <a:rPr lang="en-ZA" sz="1000" dirty="0">
                <a:latin typeface="Aptos" panose="020B0004020202020204" pitchFamily="34" charset="0"/>
              </a:rPr>
              <a:t>Dashed arrows: the integration key repair, the duplicate-ID finding and the move to binary model all sent us back a phase.</a:t>
            </a:r>
          </a:p>
        </p:txBody>
      </p:sp>
    </p:spTree>
    <p:extLst>
      <p:ext uri="{BB962C8B-B14F-4D97-AF65-F5344CB8AC3E}">
        <p14:creationId xmlns:p14="http://schemas.microsoft.com/office/powerpoint/2010/main" val="22694130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CE32E-349F-204C-A27D-356C6EDF91DA}"/>
              </a:ext>
            </a:extLst>
          </p:cNvPr>
          <p:cNvSpPr>
            <a:spLocks noGrp="1"/>
          </p:cNvSpPr>
          <p:nvPr>
            <p:ph type="title"/>
          </p:nvPr>
        </p:nvSpPr>
        <p:spPr>
          <a:xfrm>
            <a:off x="1141413" y="609600"/>
            <a:ext cx="9905998" cy="653308"/>
          </a:xfrm>
        </p:spPr>
        <p:txBody>
          <a:bodyPr/>
          <a:lstStyle/>
          <a:p>
            <a:r>
              <a:rPr lang="en-ZA" dirty="0"/>
              <a:t>Data Strategy</a:t>
            </a:r>
          </a:p>
        </p:txBody>
      </p:sp>
      <p:sp>
        <p:nvSpPr>
          <p:cNvPr id="3" name="TextBox 2">
            <a:extLst>
              <a:ext uri="{FF2B5EF4-FFF2-40B4-BE49-F238E27FC236}">
                <a16:creationId xmlns:a16="http://schemas.microsoft.com/office/drawing/2014/main" id="{92BCFF48-3F33-E6B7-6337-4337D115CD31}"/>
              </a:ext>
            </a:extLst>
          </p:cNvPr>
          <p:cNvSpPr txBox="1"/>
          <p:nvPr/>
        </p:nvSpPr>
        <p:spPr>
          <a:xfrm>
            <a:off x="1141413" y="1562100"/>
            <a:ext cx="7126287" cy="461665"/>
          </a:xfrm>
          <a:prstGeom prst="rect">
            <a:avLst/>
          </a:prstGeom>
          <a:noFill/>
        </p:spPr>
        <p:txBody>
          <a:bodyPr wrap="square" rtlCol="0">
            <a:spAutoFit/>
          </a:bodyPr>
          <a:lstStyle/>
          <a:p>
            <a:r>
              <a:rPr lang="en-ZA" sz="2400" dirty="0">
                <a:latin typeface="Aptos" panose="020B0004020202020204" pitchFamily="34" charset="0"/>
              </a:rPr>
              <a:t>Seven of eleven files, joined with no household lost</a:t>
            </a:r>
          </a:p>
        </p:txBody>
      </p:sp>
      <p:pic>
        <p:nvPicPr>
          <p:cNvPr id="5" name="Picture 4">
            <a:extLst>
              <a:ext uri="{FF2B5EF4-FFF2-40B4-BE49-F238E27FC236}">
                <a16:creationId xmlns:a16="http://schemas.microsoft.com/office/drawing/2014/main" id="{FBDA620F-2A16-62C7-DE98-14749C37805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54309" y="2131715"/>
            <a:ext cx="5680205" cy="2411023"/>
          </a:xfrm>
          <a:prstGeom prst="rect">
            <a:avLst/>
          </a:prstGeom>
        </p:spPr>
      </p:pic>
      <p:sp>
        <p:nvSpPr>
          <p:cNvPr id="6" name="TextBox 5">
            <a:extLst>
              <a:ext uri="{FF2B5EF4-FFF2-40B4-BE49-F238E27FC236}">
                <a16:creationId xmlns:a16="http://schemas.microsoft.com/office/drawing/2014/main" id="{5C2C44F7-D166-FB5F-7D0B-3458C77DA94B}"/>
              </a:ext>
            </a:extLst>
          </p:cNvPr>
          <p:cNvSpPr txBox="1"/>
          <p:nvPr/>
        </p:nvSpPr>
        <p:spPr>
          <a:xfrm>
            <a:off x="1141413" y="4834236"/>
            <a:ext cx="1455737" cy="807913"/>
          </a:xfrm>
          <a:prstGeom prst="rect">
            <a:avLst/>
          </a:prstGeom>
          <a:noFill/>
        </p:spPr>
        <p:txBody>
          <a:bodyPr wrap="square" rtlCol="0">
            <a:spAutoFit/>
          </a:bodyPr>
          <a:lstStyle/>
          <a:p>
            <a:r>
              <a:rPr lang="en-ZA" sz="3600" dirty="0">
                <a:latin typeface="Aptos" panose="020B0004020202020204" pitchFamily="34" charset="0"/>
              </a:rPr>
              <a:t>15</a:t>
            </a:r>
          </a:p>
          <a:p>
            <a:r>
              <a:rPr lang="en-ZA" sz="1000" dirty="0">
                <a:latin typeface="Aptos" panose="020B0004020202020204" pitchFamily="34" charset="0"/>
              </a:rPr>
              <a:t>broken keys repaired</a:t>
            </a:r>
          </a:p>
        </p:txBody>
      </p:sp>
      <p:sp>
        <p:nvSpPr>
          <p:cNvPr id="8" name="TextBox 7">
            <a:extLst>
              <a:ext uri="{FF2B5EF4-FFF2-40B4-BE49-F238E27FC236}">
                <a16:creationId xmlns:a16="http://schemas.microsoft.com/office/drawing/2014/main" id="{B9A568E5-722C-74CF-AC98-859FEBDA85B7}"/>
              </a:ext>
            </a:extLst>
          </p:cNvPr>
          <p:cNvSpPr txBox="1"/>
          <p:nvPr/>
        </p:nvSpPr>
        <p:spPr>
          <a:xfrm>
            <a:off x="4279898" y="4841930"/>
            <a:ext cx="3629026" cy="800219"/>
          </a:xfrm>
          <a:prstGeom prst="rect">
            <a:avLst/>
          </a:prstGeom>
          <a:noFill/>
        </p:spPr>
        <p:txBody>
          <a:bodyPr wrap="square" rtlCol="0">
            <a:spAutoFit/>
          </a:bodyPr>
          <a:lstStyle/>
          <a:p>
            <a:r>
              <a:rPr lang="en-ZA" sz="3600" dirty="0">
                <a:latin typeface="Aptos" panose="020B0004020202020204" pitchFamily="34" charset="0"/>
              </a:rPr>
              <a:t>20,940 -&gt; 20,925</a:t>
            </a:r>
          </a:p>
          <a:p>
            <a:r>
              <a:rPr lang="en-ZA" sz="1000" dirty="0">
                <a:latin typeface="Aptos" panose="020B0004020202020204" pitchFamily="34" charset="0"/>
              </a:rPr>
              <a:t>Integrated, then modelled</a:t>
            </a:r>
          </a:p>
        </p:txBody>
      </p:sp>
      <p:sp>
        <p:nvSpPr>
          <p:cNvPr id="10" name="TextBox 9">
            <a:extLst>
              <a:ext uri="{FF2B5EF4-FFF2-40B4-BE49-F238E27FC236}">
                <a16:creationId xmlns:a16="http://schemas.microsoft.com/office/drawing/2014/main" id="{2AF11DEB-8FB8-305B-DCBD-C845910BFE19}"/>
              </a:ext>
            </a:extLst>
          </p:cNvPr>
          <p:cNvSpPr txBox="1"/>
          <p:nvPr/>
        </p:nvSpPr>
        <p:spPr>
          <a:xfrm>
            <a:off x="8934514" y="4834235"/>
            <a:ext cx="1733486" cy="800219"/>
          </a:xfrm>
          <a:prstGeom prst="rect">
            <a:avLst/>
          </a:prstGeom>
          <a:noFill/>
        </p:spPr>
        <p:txBody>
          <a:bodyPr wrap="square" rtlCol="0">
            <a:spAutoFit/>
          </a:bodyPr>
          <a:lstStyle/>
          <a:p>
            <a:r>
              <a:rPr lang="en-ZA" sz="3600" dirty="0">
                <a:latin typeface="Aptos" panose="020B0004020202020204" pitchFamily="34" charset="0"/>
              </a:rPr>
              <a:t>16</a:t>
            </a:r>
          </a:p>
          <a:p>
            <a:r>
              <a:rPr lang="en-ZA" sz="1000" dirty="0">
                <a:latin typeface="Aptos" panose="020B0004020202020204" pitchFamily="34" charset="0"/>
              </a:rPr>
              <a:t>leakage columns excluded</a:t>
            </a:r>
          </a:p>
        </p:txBody>
      </p:sp>
      <p:sp>
        <p:nvSpPr>
          <p:cNvPr id="12" name="TextBox 11">
            <a:extLst>
              <a:ext uri="{FF2B5EF4-FFF2-40B4-BE49-F238E27FC236}">
                <a16:creationId xmlns:a16="http://schemas.microsoft.com/office/drawing/2014/main" id="{1B1756CB-70A7-1D40-035E-C9204C6C5E1B}"/>
              </a:ext>
            </a:extLst>
          </p:cNvPr>
          <p:cNvSpPr txBox="1"/>
          <p:nvPr/>
        </p:nvSpPr>
        <p:spPr>
          <a:xfrm>
            <a:off x="1141412" y="5848290"/>
            <a:ext cx="7126287" cy="246221"/>
          </a:xfrm>
          <a:prstGeom prst="rect">
            <a:avLst/>
          </a:prstGeom>
          <a:noFill/>
        </p:spPr>
        <p:txBody>
          <a:bodyPr wrap="square">
            <a:spAutoFit/>
          </a:bodyPr>
          <a:lstStyle/>
          <a:p>
            <a:r>
              <a:rPr lang="en-ZA" sz="1000" dirty="0">
                <a:latin typeface="Aptos" panose="020B0004020202020204" pitchFamily="34" charset="0"/>
              </a:rPr>
              <a:t>Person-level files D01-D03 and file D11 were left out, with reasons. Split: 14,646 train, 6,279 test.</a:t>
            </a:r>
          </a:p>
        </p:txBody>
      </p:sp>
    </p:spTree>
    <p:extLst>
      <p:ext uri="{BB962C8B-B14F-4D97-AF65-F5344CB8AC3E}">
        <p14:creationId xmlns:p14="http://schemas.microsoft.com/office/powerpoint/2010/main" val="4676320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F4360-6490-5821-C767-8B253775AAC8}"/>
              </a:ext>
            </a:extLst>
          </p:cNvPr>
          <p:cNvSpPr>
            <a:spLocks noGrp="1"/>
          </p:cNvSpPr>
          <p:nvPr>
            <p:ph type="title"/>
          </p:nvPr>
        </p:nvSpPr>
        <p:spPr>
          <a:xfrm>
            <a:off x="1141413" y="609600"/>
            <a:ext cx="9905998" cy="660400"/>
          </a:xfrm>
        </p:spPr>
        <p:txBody>
          <a:bodyPr/>
          <a:lstStyle/>
          <a:p>
            <a:r>
              <a:rPr lang="en-ZA" dirty="0"/>
              <a:t>Modelling approach</a:t>
            </a:r>
          </a:p>
        </p:txBody>
      </p:sp>
      <p:sp>
        <p:nvSpPr>
          <p:cNvPr id="3" name="TextBox 2">
            <a:extLst>
              <a:ext uri="{FF2B5EF4-FFF2-40B4-BE49-F238E27FC236}">
                <a16:creationId xmlns:a16="http://schemas.microsoft.com/office/drawing/2014/main" id="{FE9297A4-1992-4484-5CC0-1890A6C615D8}"/>
              </a:ext>
            </a:extLst>
          </p:cNvPr>
          <p:cNvSpPr txBox="1"/>
          <p:nvPr/>
        </p:nvSpPr>
        <p:spPr>
          <a:xfrm>
            <a:off x="1141413" y="1466849"/>
            <a:ext cx="9828211" cy="461665"/>
          </a:xfrm>
          <a:prstGeom prst="rect">
            <a:avLst/>
          </a:prstGeom>
          <a:noFill/>
        </p:spPr>
        <p:txBody>
          <a:bodyPr wrap="square" rtlCol="0">
            <a:spAutoFit/>
          </a:bodyPr>
          <a:lstStyle/>
          <a:p>
            <a:r>
              <a:rPr lang="en-ZA" sz="2400" dirty="0">
                <a:latin typeface="Aptos" panose="020B0004020202020204" pitchFamily="34" charset="0"/>
              </a:rPr>
              <a:t>Three tiers failed on the middle tier, so we kept binary lasso</a:t>
            </a:r>
          </a:p>
        </p:txBody>
      </p:sp>
      <p:pic>
        <p:nvPicPr>
          <p:cNvPr id="5" name="Picture 4">
            <a:extLst>
              <a:ext uri="{FF2B5EF4-FFF2-40B4-BE49-F238E27FC236}">
                <a16:creationId xmlns:a16="http://schemas.microsoft.com/office/drawing/2014/main" id="{67D05D9D-CA62-45B2-25A8-3E73AC3624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1413" y="2125363"/>
            <a:ext cx="6194624" cy="2675237"/>
          </a:xfrm>
          <a:prstGeom prst="rect">
            <a:avLst/>
          </a:prstGeom>
        </p:spPr>
      </p:pic>
      <p:sp>
        <p:nvSpPr>
          <p:cNvPr id="6" name="TextBox 5">
            <a:extLst>
              <a:ext uri="{FF2B5EF4-FFF2-40B4-BE49-F238E27FC236}">
                <a16:creationId xmlns:a16="http://schemas.microsoft.com/office/drawing/2014/main" id="{0B20D662-6E1A-AFE4-9EDF-5CB8010C8DDE}"/>
              </a:ext>
            </a:extLst>
          </p:cNvPr>
          <p:cNvSpPr txBox="1"/>
          <p:nvPr/>
        </p:nvSpPr>
        <p:spPr>
          <a:xfrm>
            <a:off x="7956550" y="2125363"/>
            <a:ext cx="3575050" cy="3139321"/>
          </a:xfrm>
          <a:prstGeom prst="rect">
            <a:avLst/>
          </a:prstGeom>
          <a:noFill/>
        </p:spPr>
        <p:txBody>
          <a:bodyPr wrap="square" rtlCol="0">
            <a:spAutoFit/>
          </a:bodyPr>
          <a:lstStyle/>
          <a:p>
            <a:r>
              <a:rPr lang="en-ZA" sz="2400" b="1" u="sng" dirty="0">
                <a:effectLst>
                  <a:outerShdw blurRad="38100" dist="38100" dir="2700000" algn="tl">
                    <a:srgbClr val="000000">
                      <a:alpha val="43137"/>
                    </a:srgbClr>
                  </a:outerShdw>
                </a:effectLst>
                <a:latin typeface="Aptos" panose="020B0004020202020204" pitchFamily="34" charset="0"/>
              </a:rPr>
              <a:t>Fair testing</a:t>
            </a:r>
          </a:p>
          <a:p>
            <a:r>
              <a:rPr lang="en-ZA" dirty="0">
                <a:latin typeface="Aptos" panose="020B0004020202020204" pitchFamily="34" charset="0"/>
              </a:rPr>
              <a:t>Stratified 5-fold cross-validation, with no preprocessing outside the folds</a:t>
            </a:r>
          </a:p>
          <a:p>
            <a:r>
              <a:rPr lang="en-ZA" sz="2400" b="1" u="sng" dirty="0">
                <a:latin typeface="Aptos" panose="020B0004020202020204" pitchFamily="34" charset="0"/>
              </a:rPr>
              <a:t>The middle tier falls</a:t>
            </a:r>
          </a:p>
          <a:p>
            <a:r>
              <a:rPr lang="en-ZA" dirty="0">
                <a:latin typeface="Aptos" panose="020B0004020202020204" pitchFamily="34" charset="0"/>
              </a:rPr>
              <a:t>No three-tier model recalls more than 3.2% of those households</a:t>
            </a:r>
          </a:p>
          <a:p>
            <a:r>
              <a:rPr lang="en-ZA" sz="2400" b="1" u="sng" dirty="0">
                <a:effectLst>
                  <a:outerShdw blurRad="38100" dist="38100" dir="2700000" algn="tl">
                    <a:srgbClr val="000000">
                      <a:alpha val="43137"/>
                    </a:srgbClr>
                  </a:outerShdw>
                </a:effectLst>
                <a:latin typeface="Aptos" panose="020B0004020202020204" pitchFamily="34" charset="0"/>
              </a:rPr>
              <a:t>Binary Lasso</a:t>
            </a:r>
          </a:p>
          <a:p>
            <a:r>
              <a:rPr lang="en-ZA" dirty="0">
                <a:effectLst>
                  <a:outerShdw blurRad="38100" dist="38100" dir="2700000" algn="tl">
                    <a:srgbClr val="000000">
                      <a:alpha val="43137"/>
                    </a:srgbClr>
                  </a:outerShdw>
                </a:effectLst>
                <a:latin typeface="Aptos" panose="020B0004020202020204" pitchFamily="34" charset="0"/>
              </a:rPr>
              <a:t>One odds ratio per factor, which fits the app.</a:t>
            </a:r>
            <a:endParaRPr lang="en-ZA" dirty="0">
              <a:latin typeface="Aptos" panose="020B0004020202020204" pitchFamily="34" charset="0"/>
            </a:endParaRPr>
          </a:p>
        </p:txBody>
      </p:sp>
      <p:sp>
        <p:nvSpPr>
          <p:cNvPr id="7" name="TextBox 6">
            <a:extLst>
              <a:ext uri="{FF2B5EF4-FFF2-40B4-BE49-F238E27FC236}">
                <a16:creationId xmlns:a16="http://schemas.microsoft.com/office/drawing/2014/main" id="{0F3B1B2A-8E7E-D69D-CCB1-A24D0C4A1ECE}"/>
              </a:ext>
            </a:extLst>
          </p:cNvPr>
          <p:cNvSpPr txBox="1"/>
          <p:nvPr/>
        </p:nvSpPr>
        <p:spPr>
          <a:xfrm>
            <a:off x="1141413" y="4914900"/>
            <a:ext cx="6194624" cy="400110"/>
          </a:xfrm>
          <a:prstGeom prst="rect">
            <a:avLst/>
          </a:prstGeom>
          <a:noFill/>
        </p:spPr>
        <p:txBody>
          <a:bodyPr wrap="square" rtlCol="0">
            <a:spAutoFit/>
          </a:bodyPr>
          <a:lstStyle/>
          <a:p>
            <a:r>
              <a:rPr lang="en-ZA" sz="1000" dirty="0"/>
              <a:t>Cross-validated ROC-AUC. The binary lasso answers a different question, so it is not a like-for-like comparison</a:t>
            </a:r>
          </a:p>
        </p:txBody>
      </p:sp>
      <p:sp>
        <p:nvSpPr>
          <p:cNvPr id="9" name="TextBox 8">
            <a:extLst>
              <a:ext uri="{FF2B5EF4-FFF2-40B4-BE49-F238E27FC236}">
                <a16:creationId xmlns:a16="http://schemas.microsoft.com/office/drawing/2014/main" id="{CACA6238-8B81-7B10-6122-1E33CB7F4BD8}"/>
              </a:ext>
            </a:extLst>
          </p:cNvPr>
          <p:cNvSpPr txBox="1"/>
          <p:nvPr/>
        </p:nvSpPr>
        <p:spPr>
          <a:xfrm>
            <a:off x="1141412" y="5848290"/>
            <a:ext cx="6815137" cy="246221"/>
          </a:xfrm>
          <a:prstGeom prst="rect">
            <a:avLst/>
          </a:prstGeom>
          <a:noFill/>
        </p:spPr>
        <p:txBody>
          <a:bodyPr wrap="square">
            <a:spAutoFit/>
          </a:bodyPr>
          <a:lstStyle/>
          <a:p>
            <a:r>
              <a:rPr lang="en-ZA" sz="1000" dirty="0">
                <a:latin typeface="Aptos" panose="020B0004020202020204" pitchFamily="34" charset="0"/>
              </a:rPr>
              <a:t>Class weights were tested and rejected because they damaged </a:t>
            </a:r>
            <a:r>
              <a:rPr lang="en-ZA" sz="1000">
                <a:latin typeface="Aptos" panose="020B0004020202020204" pitchFamily="34" charset="0"/>
              </a:rPr>
              <a:t>the probabilities.</a:t>
            </a:r>
            <a:endParaRPr lang="en-ZA" sz="1000" dirty="0">
              <a:latin typeface="Aptos" panose="020B0004020202020204" pitchFamily="34" charset="0"/>
            </a:endParaRPr>
          </a:p>
        </p:txBody>
      </p:sp>
    </p:spTree>
    <p:extLst>
      <p:ext uri="{BB962C8B-B14F-4D97-AF65-F5344CB8AC3E}">
        <p14:creationId xmlns:p14="http://schemas.microsoft.com/office/powerpoint/2010/main" val="556620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CE32E-349F-204C-A27D-356C6EDF91DA}"/>
              </a:ext>
            </a:extLst>
          </p:cNvPr>
          <p:cNvSpPr>
            <a:spLocks noGrp="1"/>
          </p:cNvSpPr>
          <p:nvPr>
            <p:ph type="title"/>
          </p:nvPr>
        </p:nvSpPr>
        <p:spPr>
          <a:xfrm>
            <a:off x="1141413" y="609600"/>
            <a:ext cx="9905998" cy="653308"/>
          </a:xfrm>
        </p:spPr>
        <p:txBody>
          <a:bodyPr/>
          <a:lstStyle/>
          <a:p>
            <a:r>
              <a:rPr lang="en-ZA" dirty="0"/>
              <a:t>Model performance</a:t>
            </a:r>
          </a:p>
        </p:txBody>
      </p:sp>
      <p:sp>
        <p:nvSpPr>
          <p:cNvPr id="3" name="TextBox 2">
            <a:extLst>
              <a:ext uri="{FF2B5EF4-FFF2-40B4-BE49-F238E27FC236}">
                <a16:creationId xmlns:a16="http://schemas.microsoft.com/office/drawing/2014/main" id="{92BCFF48-3F33-E6B7-6337-4337D115CD31}"/>
              </a:ext>
            </a:extLst>
          </p:cNvPr>
          <p:cNvSpPr txBox="1"/>
          <p:nvPr/>
        </p:nvSpPr>
        <p:spPr>
          <a:xfrm>
            <a:off x="1141413" y="1562100"/>
            <a:ext cx="9906000" cy="461665"/>
          </a:xfrm>
          <a:prstGeom prst="rect">
            <a:avLst/>
          </a:prstGeom>
          <a:noFill/>
        </p:spPr>
        <p:txBody>
          <a:bodyPr wrap="square" rtlCol="0">
            <a:spAutoFit/>
          </a:bodyPr>
          <a:lstStyle/>
          <a:p>
            <a:r>
              <a:rPr lang="en-ZA" sz="2400" dirty="0">
                <a:latin typeface="Aptos" panose="020B0004020202020204" pitchFamily="34" charset="0"/>
              </a:rPr>
              <a:t>The screen finds 4 in 5 at-risk households, and refers 3 in 5</a:t>
            </a:r>
          </a:p>
        </p:txBody>
      </p:sp>
      <p:sp>
        <p:nvSpPr>
          <p:cNvPr id="6" name="TextBox 5">
            <a:extLst>
              <a:ext uri="{FF2B5EF4-FFF2-40B4-BE49-F238E27FC236}">
                <a16:creationId xmlns:a16="http://schemas.microsoft.com/office/drawing/2014/main" id="{5C2C44F7-D166-FB5F-7D0B-3458C77DA94B}"/>
              </a:ext>
            </a:extLst>
          </p:cNvPr>
          <p:cNvSpPr txBox="1"/>
          <p:nvPr/>
        </p:nvSpPr>
        <p:spPr>
          <a:xfrm>
            <a:off x="1143000" y="4927600"/>
            <a:ext cx="2349500" cy="800100"/>
          </a:xfrm>
          <a:prstGeom prst="rect">
            <a:avLst/>
          </a:prstGeom>
          <a:noFill/>
        </p:spPr>
        <p:txBody>
          <a:bodyPr wrap="square" rtlCol="0">
            <a:spAutoFit/>
          </a:bodyPr>
          <a:lstStyle/>
          <a:p>
            <a:r>
              <a:rPr lang="en-ZA" sz="3600" dirty="0">
                <a:latin typeface="Aptos" panose="020B0004020202020204" pitchFamily="34" charset="0"/>
              </a:rPr>
              <a:t>80.7%</a:t>
            </a:r>
          </a:p>
          <a:p>
            <a:r>
              <a:rPr lang="en-ZA" sz="1000" dirty="0">
                <a:latin typeface="Aptos" panose="020B0004020202020204" pitchFamily="34" charset="0"/>
              </a:rPr>
              <a:t>of at-risk households found</a:t>
            </a:r>
          </a:p>
        </p:txBody>
      </p:sp>
      <p:sp>
        <p:nvSpPr>
          <p:cNvPr id="8" name="TextBox 7">
            <a:extLst>
              <a:ext uri="{FF2B5EF4-FFF2-40B4-BE49-F238E27FC236}">
                <a16:creationId xmlns:a16="http://schemas.microsoft.com/office/drawing/2014/main" id="{B9A568E5-722C-74CF-AC98-859FEBDA85B7}"/>
              </a:ext>
            </a:extLst>
          </p:cNvPr>
          <p:cNvSpPr txBox="1"/>
          <p:nvPr/>
        </p:nvSpPr>
        <p:spPr>
          <a:xfrm>
            <a:off x="3619500" y="4927600"/>
            <a:ext cx="2349500" cy="800100"/>
          </a:xfrm>
          <a:prstGeom prst="rect">
            <a:avLst/>
          </a:prstGeom>
          <a:noFill/>
        </p:spPr>
        <p:txBody>
          <a:bodyPr wrap="square" rtlCol="0">
            <a:spAutoFit/>
          </a:bodyPr>
          <a:lstStyle/>
          <a:p>
            <a:r>
              <a:rPr lang="en-ZA" sz="3600" dirty="0">
                <a:latin typeface="Aptos" panose="020B0004020202020204" pitchFamily="34" charset="0"/>
              </a:rPr>
              <a:t>41.9%</a:t>
            </a:r>
          </a:p>
          <a:p>
            <a:r>
              <a:rPr lang="en-ZA" sz="1000" dirty="0">
                <a:latin typeface="Aptos" panose="020B0004020202020204" pitchFamily="34" charset="0"/>
              </a:rPr>
              <a:t>of referrals genuinely at risk</a:t>
            </a:r>
          </a:p>
        </p:txBody>
      </p:sp>
      <p:sp>
        <p:nvSpPr>
          <p:cNvPr id="10" name="TextBox 9">
            <a:extLst>
              <a:ext uri="{FF2B5EF4-FFF2-40B4-BE49-F238E27FC236}">
                <a16:creationId xmlns:a16="http://schemas.microsoft.com/office/drawing/2014/main" id="{2AF11DEB-8FB8-305B-DCBD-C845910BFE19}"/>
              </a:ext>
            </a:extLst>
          </p:cNvPr>
          <p:cNvSpPr txBox="1"/>
          <p:nvPr/>
        </p:nvSpPr>
        <p:spPr>
          <a:xfrm>
            <a:off x="6096000" y="4927600"/>
            <a:ext cx="2349500" cy="800100"/>
          </a:xfrm>
          <a:prstGeom prst="rect">
            <a:avLst/>
          </a:prstGeom>
          <a:noFill/>
        </p:spPr>
        <p:txBody>
          <a:bodyPr wrap="square" rtlCol="0">
            <a:spAutoFit/>
          </a:bodyPr>
          <a:lstStyle/>
          <a:p>
            <a:r>
              <a:rPr lang="en-ZA" sz="3600" dirty="0">
                <a:latin typeface="Aptos" panose="020B0004020202020204" pitchFamily="34" charset="0"/>
              </a:rPr>
              <a:t>58.9%</a:t>
            </a:r>
          </a:p>
          <a:p>
            <a:r>
              <a:rPr lang="en-ZA" sz="1000" dirty="0">
                <a:latin typeface="Aptos" panose="020B0004020202020204" pitchFamily="34" charset="0"/>
              </a:rPr>
              <a:t>of households sent for follow-up</a:t>
            </a:r>
          </a:p>
        </p:txBody>
      </p:sp>
      <p:sp>
        <p:nvSpPr>
          <p:cNvPr id="12" name="TextBox 11">
            <a:extLst>
              <a:ext uri="{FF2B5EF4-FFF2-40B4-BE49-F238E27FC236}">
                <a16:creationId xmlns:a16="http://schemas.microsoft.com/office/drawing/2014/main" id="{1B1756CB-70A7-1D40-035E-C9204C6C5E1B}"/>
              </a:ext>
            </a:extLst>
          </p:cNvPr>
          <p:cNvSpPr txBox="1"/>
          <p:nvPr/>
        </p:nvSpPr>
        <p:spPr>
          <a:xfrm>
            <a:off x="1141412" y="5848290"/>
            <a:ext cx="9906000" cy="246221"/>
          </a:xfrm>
          <a:prstGeom prst="rect">
            <a:avLst/>
          </a:prstGeom>
          <a:noFill/>
        </p:spPr>
        <p:txBody>
          <a:bodyPr wrap="square">
            <a:spAutoFit/>
          </a:bodyPr>
          <a:lstStyle/>
          <a:p>
            <a:r>
              <a:rPr lang="en-ZA" sz="1000" dirty="0">
                <a:latin typeface="Aptos" panose="020B0004020202020204" pitchFamily="34" charset="0"/>
              </a:rPr>
              <a:t>Measured once on 6,279 held-out test households. The threshold was fixed on cross-validation before testing.</a:t>
            </a:r>
          </a:p>
        </p:txBody>
      </p:sp>
      <p:pic>
        <p:nvPicPr>
          <p:cNvPr id="13" name="Picture 12" descr="slide5_threshold.png"/>
          <p:cNvPicPr>
            <a:picLocks noChangeAspect="1"/>
          </p:cNvPicPr>
          <p:nvPr/>
        </p:nvPicPr>
        <p:blipFill>
          <a:blip r:embed="rId3"/>
          <a:stretch>
            <a:fillRect/>
          </a:stretch>
        </p:blipFill>
        <p:spPr>
          <a:xfrm>
            <a:off x="2857500" y="2095500"/>
            <a:ext cx="6477000" cy="2797186"/>
          </a:xfrm>
          <a:prstGeom prst="rect">
            <a:avLst/>
          </a:prstGeom>
        </p:spPr>
      </p:pic>
      <p:sp>
        <p:nvSpPr>
          <p:cNvPr id="14" name="TextBox 13">
            <a:extLst>
              <a:ext uri="{FF2B5EF4-FFF2-40B4-BE49-F238E27FC236}">
                <a16:creationId xmlns:a16="http://schemas.microsoft.com/office/drawing/2014/main" id="{5C2C44F7-D166-FB5F-7D0B-3458C77DA94B}"/>
              </a:ext>
            </a:extLst>
          </p:cNvPr>
          <p:cNvSpPr txBox="1"/>
          <p:nvPr/>
        </p:nvSpPr>
        <p:spPr>
          <a:xfrm>
            <a:off x="8572500" y="4927600"/>
            <a:ext cx="2349500" cy="800100"/>
          </a:xfrm>
          <a:prstGeom prst="rect">
            <a:avLst/>
          </a:prstGeom>
          <a:noFill/>
        </p:spPr>
        <p:txBody>
          <a:bodyPr wrap="square" rtlCol="0">
            <a:spAutoFit/>
          </a:bodyPr>
          <a:lstStyle/>
          <a:p>
            <a:r>
              <a:rPr lang="en-ZA" sz="3600" dirty="0">
                <a:latin typeface="Aptos" panose="020B0004020202020204" pitchFamily="34" charset="0"/>
              </a:rPr>
              <a:t>0.736</a:t>
            </a:r>
          </a:p>
          <a:p>
            <a:r>
              <a:rPr lang="en-ZA" sz="1000" dirty="0">
                <a:latin typeface="Aptos" panose="020B0004020202020204" pitchFamily="34" charset="0"/>
              </a:rPr>
              <a:t>ROC-AUC (0.5 = coin flip)</a:t>
            </a:r>
          </a:p>
        </p:txBody>
      </p:sp>
    </p:spTree>
    <p:extLst>
      <p:ext uri="{BB962C8B-B14F-4D97-AF65-F5344CB8AC3E}">
        <p14:creationId xmlns:p14="http://schemas.microsoft.com/office/powerpoint/2010/main" val="4676320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F4360-6490-5821-C767-8B253775AAC8}"/>
              </a:ext>
            </a:extLst>
          </p:cNvPr>
          <p:cNvSpPr>
            <a:spLocks noGrp="1"/>
          </p:cNvSpPr>
          <p:nvPr>
            <p:ph type="title"/>
          </p:nvPr>
        </p:nvSpPr>
        <p:spPr>
          <a:xfrm>
            <a:off x="1141413" y="609600"/>
            <a:ext cx="9905998" cy="660400"/>
          </a:xfrm>
        </p:spPr>
        <p:txBody>
          <a:bodyPr/>
          <a:lstStyle/>
          <a:p>
            <a:r>
              <a:rPr lang="en-ZA" dirty="0"/>
              <a:t>Key findings</a:t>
            </a:r>
          </a:p>
        </p:txBody>
      </p:sp>
      <p:sp>
        <p:nvSpPr>
          <p:cNvPr id="3" name="TextBox 2">
            <a:extLst>
              <a:ext uri="{FF2B5EF4-FFF2-40B4-BE49-F238E27FC236}">
                <a16:creationId xmlns:a16="http://schemas.microsoft.com/office/drawing/2014/main" id="{FE9297A4-1992-4484-5CC0-1890A6C615D8}"/>
              </a:ext>
            </a:extLst>
          </p:cNvPr>
          <p:cNvSpPr txBox="1"/>
          <p:nvPr/>
        </p:nvSpPr>
        <p:spPr>
          <a:xfrm>
            <a:off x="1141413" y="1466849"/>
            <a:ext cx="9828211" cy="461665"/>
          </a:xfrm>
          <a:prstGeom prst="rect">
            <a:avLst/>
          </a:prstGeom>
          <a:noFill/>
        </p:spPr>
        <p:txBody>
          <a:bodyPr wrap="square" rtlCol="0">
            <a:spAutoFit/>
          </a:bodyPr>
          <a:lstStyle/>
          <a:p>
            <a:r>
              <a:rPr lang="en-ZA" sz="2400" dirty="0">
                <a:latin typeface="Aptos" panose="020B0004020202020204" pitchFamily="34" charset="0"/>
              </a:rPr>
              <a:t>Income change is the warning sign, but the better-off get missed</a:t>
            </a:r>
          </a:p>
        </p:txBody>
      </p:sp>
      <p:sp>
        <p:nvSpPr>
          <p:cNvPr id="6" name="TextBox 5">
            <a:extLst>
              <a:ext uri="{FF2B5EF4-FFF2-40B4-BE49-F238E27FC236}">
                <a16:creationId xmlns:a16="http://schemas.microsoft.com/office/drawing/2014/main" id="{0B20D662-6E1A-AFE4-9EDF-5CB8010C8DDE}"/>
              </a:ext>
            </a:extLst>
          </p:cNvPr>
          <p:cNvSpPr txBox="1"/>
          <p:nvPr/>
        </p:nvSpPr>
        <p:spPr>
          <a:xfrm>
            <a:off x="7956550" y="2125363"/>
            <a:ext cx="3575050" cy="3139321"/>
          </a:xfrm>
          <a:prstGeom prst="rect">
            <a:avLst/>
          </a:prstGeom>
          <a:noFill/>
        </p:spPr>
        <p:txBody>
          <a:bodyPr wrap="square" rtlCol="0">
            <a:spAutoFit/>
          </a:bodyPr>
          <a:lstStyle/>
          <a:p>
            <a:r>
              <a:rPr lang="en-ZA" sz="2400" b="1" u="sng" dirty="0">
                <a:effectLst>
                  <a:outerShdw blurRad="38100" dist="38100" dir="2700000" algn="tl">
                    <a:srgbClr val="000000">
                      <a:alpha val="43137"/>
                    </a:srgbClr>
                  </a:outerShdw>
                </a:effectLst>
                <a:latin typeface="Aptos" panose="020B0004020202020204" pitchFamily="34" charset="0"/>
              </a:rPr>
              <a:t>Income change leads</a:t>
            </a:r>
          </a:p>
          <a:p>
            <a:r>
              <a:rPr lang="en-ZA" dirty="0">
                <a:latin typeface="Aptos" panose="020B0004020202020204" pitchFamily="34" charset="0"/>
              </a:rPr>
              <a:t>AUC drop 0.082, about 2.5 times the next answer</a:t>
            </a:r>
          </a:p>
          <a:p>
            <a:r>
              <a:rPr lang="en-ZA" sz="2400" b="1" u="sng" dirty="0">
                <a:latin typeface="Aptos" panose="020B0004020202020204" pitchFamily="34" charset="0"/>
              </a:rPr>
              <a:t>Grants mark need</a:t>
            </a:r>
          </a:p>
          <a:p>
            <a:r>
              <a:rPr lang="en-ZA" dirty="0">
                <a:latin typeface="Aptos" panose="020B0004020202020204" pitchFamily="34" charset="0"/>
              </a:rPr>
              <a:t>37.6% of grant households are at risk vs 20.6% without: targeting, not harm</a:t>
            </a:r>
          </a:p>
          <a:p>
            <a:r>
              <a:rPr lang="en-ZA" sz="2400" b="1" u="sng" dirty="0">
                <a:effectLst>
                  <a:outerShdw blurRad="38100" dist="38100" dir="2700000" algn="tl">
                    <a:srgbClr val="000000">
                      <a:alpha val="43137"/>
                    </a:srgbClr>
                  </a:outerShdw>
                </a:effectLst>
                <a:latin typeface="Aptos" panose="020B0004020202020204" pitchFamily="34" charset="0"/>
              </a:rPr>
              <a:t>Weakest above R11,500</a:t>
            </a:r>
          </a:p>
          <a:p>
            <a:r>
              <a:rPr lang="en-ZA" dirty="0">
                <a:effectLst>
                  <a:outerShdw blurRad="38100" dist="38100" dir="2700000" algn="tl">
                    <a:srgbClr val="000000">
                      <a:alpha val="43137"/>
                    </a:srgbClr>
                  </a:outerShdw>
                </a:effectLst>
                <a:latin typeface="Aptos" panose="020B0004020202020204" pitchFamily="34" charset="0"/>
              </a:rPr>
              <a:t>Only 39.2% found there, so a low score is not clearance</a:t>
            </a:r>
            <a:endParaRPr lang="en-ZA" dirty="0">
              <a:latin typeface="Aptos" panose="020B0004020202020204" pitchFamily="34" charset="0"/>
            </a:endParaRPr>
          </a:p>
        </p:txBody>
      </p:sp>
      <p:sp>
        <p:nvSpPr>
          <p:cNvPr id="7" name="TextBox 6">
            <a:extLst>
              <a:ext uri="{FF2B5EF4-FFF2-40B4-BE49-F238E27FC236}">
                <a16:creationId xmlns:a16="http://schemas.microsoft.com/office/drawing/2014/main" id="{0F3B1B2A-8E7E-D69D-CCB1-A24D0C4A1ECE}"/>
              </a:ext>
            </a:extLst>
          </p:cNvPr>
          <p:cNvSpPr txBox="1"/>
          <p:nvPr/>
        </p:nvSpPr>
        <p:spPr>
          <a:xfrm>
            <a:off x="1141413" y="4914900"/>
            <a:ext cx="6194624" cy="400110"/>
          </a:xfrm>
          <a:prstGeom prst="rect">
            <a:avLst/>
          </a:prstGeom>
          <a:noFill/>
        </p:spPr>
        <p:txBody>
          <a:bodyPr wrap="square" rtlCol="0">
            <a:spAutoFit/>
          </a:bodyPr>
          <a:lstStyle/>
          <a:p>
            <a:r>
              <a:rPr lang="en-ZA" sz="1000" dirty="0"/>
              <a:t>Left: permutation importance on the test set. Right: recall by group; orange is outside the 10-point tolerance band.</a:t>
            </a:r>
          </a:p>
        </p:txBody>
      </p:sp>
      <p:sp>
        <p:nvSpPr>
          <p:cNvPr id="9" name="TextBox 8">
            <a:extLst>
              <a:ext uri="{FF2B5EF4-FFF2-40B4-BE49-F238E27FC236}">
                <a16:creationId xmlns:a16="http://schemas.microsoft.com/office/drawing/2014/main" id="{CACA6238-8B81-7B10-6122-1E33CB7F4BD8}"/>
              </a:ext>
            </a:extLst>
          </p:cNvPr>
          <p:cNvSpPr txBox="1"/>
          <p:nvPr/>
        </p:nvSpPr>
        <p:spPr>
          <a:xfrm>
            <a:off x="1141412" y="5848290"/>
            <a:ext cx="6815137" cy="246221"/>
          </a:xfrm>
          <a:prstGeom prst="rect">
            <a:avLst/>
          </a:prstGeom>
          <a:noFill/>
        </p:spPr>
        <p:txBody>
          <a:bodyPr wrap="square">
            <a:spAutoFit/>
          </a:bodyPr>
          <a:lstStyle/>
          <a:p>
            <a:r>
              <a:rPr lang="en-ZA" sz="1000" dirty="0">
                <a:latin typeface="Aptos" panose="020B0004020202020204" pitchFamily="34" charset="0"/>
              </a:rPr>
              <a:t>58.3% of households whose income fell sharply are food insecure, against 18-21% mid-scale.</a:t>
            </a:r>
          </a:p>
        </p:txBody>
      </p:sp>
      <p:pic>
        <p:nvPicPr>
          <p:cNvPr id="10" name="Picture 9" descr="slide6_findings.png"/>
          <p:cNvPicPr>
            <a:picLocks noChangeAspect="1"/>
          </p:cNvPicPr>
          <p:nvPr/>
        </p:nvPicPr>
        <p:blipFill>
          <a:blip r:embed="rId3"/>
          <a:stretch>
            <a:fillRect/>
          </a:stretch>
        </p:blipFill>
        <p:spPr>
          <a:xfrm>
            <a:off x="1143000" y="2120900"/>
            <a:ext cx="6197600" cy="2676523"/>
          </a:xfrm>
          <a:prstGeom prst="rect">
            <a:avLst/>
          </a:prstGeom>
        </p:spPr>
      </p:pic>
    </p:spTree>
    <p:extLst>
      <p:ext uri="{BB962C8B-B14F-4D97-AF65-F5344CB8AC3E}">
        <p14:creationId xmlns:p14="http://schemas.microsoft.com/office/powerpoint/2010/main" val="556620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F4360-6490-5821-C767-8B253775AAC8}"/>
              </a:ext>
            </a:extLst>
          </p:cNvPr>
          <p:cNvSpPr>
            <a:spLocks noGrp="1"/>
          </p:cNvSpPr>
          <p:nvPr>
            <p:ph type="title"/>
          </p:nvPr>
        </p:nvSpPr>
        <p:spPr>
          <a:xfrm>
            <a:off x="1141413" y="609600"/>
            <a:ext cx="9905998" cy="660400"/>
          </a:xfrm>
        </p:spPr>
        <p:txBody>
          <a:bodyPr/>
          <a:lstStyle/>
          <a:p>
            <a:r>
              <a:rPr lang="en-ZA" dirty="0"/>
              <a:t>Dashboard demo</a:t>
            </a:r>
          </a:p>
        </p:txBody>
      </p:sp>
      <p:sp>
        <p:nvSpPr>
          <p:cNvPr id="3" name="TextBox 2">
            <a:extLst>
              <a:ext uri="{FF2B5EF4-FFF2-40B4-BE49-F238E27FC236}">
                <a16:creationId xmlns:a16="http://schemas.microsoft.com/office/drawing/2014/main" id="{FE9297A4-1992-4484-5CC0-1890A6C615D8}"/>
              </a:ext>
            </a:extLst>
          </p:cNvPr>
          <p:cNvSpPr txBox="1"/>
          <p:nvPr/>
        </p:nvSpPr>
        <p:spPr>
          <a:xfrm>
            <a:off x="1141413" y="1466849"/>
            <a:ext cx="9828211" cy="461665"/>
          </a:xfrm>
          <a:prstGeom prst="rect">
            <a:avLst/>
          </a:prstGeom>
          <a:noFill/>
        </p:spPr>
        <p:txBody>
          <a:bodyPr wrap="square" rtlCol="0">
            <a:spAutoFit/>
          </a:bodyPr>
          <a:lstStyle/>
          <a:p>
            <a:r>
              <a:rPr lang="en-ZA" sz="2400" dirty="0">
                <a:latin typeface="Aptos" panose="020B0004020202020204" pitchFamily="34" charset="0"/>
              </a:rPr>
              <a:t>Setting the referral threshold against real capacity</a:t>
            </a:r>
          </a:p>
        </p:txBody>
      </p:sp>
      <p:sp>
        <p:nvSpPr>
          <p:cNvPr id="6" name="TextBox 5">
            <a:extLst>
              <a:ext uri="{FF2B5EF4-FFF2-40B4-BE49-F238E27FC236}">
                <a16:creationId xmlns:a16="http://schemas.microsoft.com/office/drawing/2014/main" id="{0B20D662-6E1A-AFE4-9EDF-5CB8010C8DDE}"/>
              </a:ext>
            </a:extLst>
          </p:cNvPr>
          <p:cNvSpPr txBox="1"/>
          <p:nvPr/>
        </p:nvSpPr>
        <p:spPr>
          <a:xfrm>
            <a:off x="7620000" y="2125363"/>
            <a:ext cx="4064000" cy="3139321"/>
          </a:xfrm>
          <a:prstGeom prst="rect">
            <a:avLst/>
          </a:prstGeom>
          <a:noFill/>
        </p:spPr>
        <p:txBody>
          <a:bodyPr wrap="square" rtlCol="0">
            <a:spAutoFit/>
          </a:bodyPr>
          <a:lstStyle/>
          <a:p>
            <a:r>
              <a:rPr lang="en-ZA" sz="2400" b="1" u="sng" dirty="0">
                <a:effectLst>
                  <a:outerShdw blurRad="38100" dist="38100" dir="2700000" algn="tl">
                    <a:srgbClr val="000000">
                      <a:alpha val="43137"/>
                    </a:srgbClr>
                  </a:outerShdw>
                </a:effectLst>
                <a:latin typeface="Aptos" panose="020B0004020202020204" pitchFamily="34" charset="0"/>
              </a:rPr>
              <a:t>How well the screen works</a:t>
            </a:r>
          </a:p>
          <a:p>
            <a:r>
              <a:rPr lang="en-ZA" dirty="0">
                <a:latin typeface="Aptos" panose="020B0004020202020204" pitchFamily="34" charset="0"/>
              </a:rPr>
              <a:t>Change the threshold and watch recall and referrals move</a:t>
            </a:r>
          </a:p>
          <a:p>
            <a:r>
              <a:rPr lang="en-ZA" sz="2400" b="1" u="sng" dirty="0">
                <a:latin typeface="Aptos" panose="020B0004020202020204" pitchFamily="34" charset="0"/>
              </a:rPr>
              <a:t>Who the screen misses</a:t>
            </a:r>
          </a:p>
          <a:p>
            <a:r>
              <a:rPr lang="en-ZA" dirty="0">
                <a:latin typeface="Aptos" panose="020B0004020202020204" pitchFamily="34" charset="0"/>
              </a:rPr>
              <a:t>Recall by income, grants and province, with intervals</a:t>
            </a:r>
          </a:p>
          <a:p>
            <a:r>
              <a:rPr lang="en-ZA" sz="2400" b="1" u="sng" dirty="0">
                <a:effectLst>
                  <a:outerShdw blurRad="38100" dist="38100" dir="2700000" algn="tl">
                    <a:srgbClr val="000000">
                      <a:alpha val="43137"/>
                    </a:srgbClr>
                  </a:outerShdw>
                </a:effectLst>
                <a:latin typeface="Aptos" panose="020B0004020202020204" pitchFamily="34" charset="0"/>
              </a:rPr>
              <a:t>What drives risk</a:t>
            </a:r>
          </a:p>
          <a:p>
            <a:r>
              <a:rPr lang="en-ZA" dirty="0">
                <a:effectLst>
                  <a:outerShdw blurRad="38100" dist="38100" dir="2700000" algn="tl">
                    <a:srgbClr val="000000">
                      <a:alpha val="43137"/>
                    </a:srgbClr>
                  </a:outerShdw>
                </a:effectLst>
                <a:latin typeface="Aptos" panose="020B0004020202020204" pitchFamily="34" charset="0"/>
              </a:rPr>
              <a:t>Income change first, odds ratios with 95% intervals</a:t>
            </a:r>
            <a:endParaRPr lang="en-ZA" dirty="0">
              <a:latin typeface="Aptos" panose="020B0004020202020204" pitchFamily="34" charset="0"/>
            </a:endParaRPr>
          </a:p>
        </p:txBody>
      </p:sp>
      <p:sp>
        <p:nvSpPr>
          <p:cNvPr id="7" name="TextBox 6">
            <a:extLst>
              <a:ext uri="{FF2B5EF4-FFF2-40B4-BE49-F238E27FC236}">
                <a16:creationId xmlns:a16="http://schemas.microsoft.com/office/drawing/2014/main" id="{0F3B1B2A-8E7E-D69D-CCB1-A24D0C4A1ECE}"/>
              </a:ext>
            </a:extLst>
          </p:cNvPr>
          <p:cNvSpPr txBox="1"/>
          <p:nvPr/>
        </p:nvSpPr>
        <p:spPr>
          <a:xfrm>
            <a:off x="1141413" y="5461000"/>
            <a:ext cx="6194624" cy="400110"/>
          </a:xfrm>
          <a:prstGeom prst="rect">
            <a:avLst/>
          </a:prstGeom>
          <a:noFill/>
        </p:spPr>
        <p:txBody>
          <a:bodyPr wrap="square" rtlCol="0">
            <a:spAutoFit/>
          </a:bodyPr>
          <a:lstStyle/>
          <a:p>
            <a:r>
              <a:rPr lang="en-ZA" sz="1000" dirty="0"/>
              <a:t>Backup screenshot: the 'How well the screen works' page at the deployed threshold of 0.24.</a:t>
            </a:r>
          </a:p>
        </p:txBody>
      </p:sp>
      <p:sp>
        <p:nvSpPr>
          <p:cNvPr id="9" name="TextBox 8">
            <a:extLst>
              <a:ext uri="{FF2B5EF4-FFF2-40B4-BE49-F238E27FC236}">
                <a16:creationId xmlns:a16="http://schemas.microsoft.com/office/drawing/2014/main" id="{CACA6238-8B81-7B10-6122-1E33CB7F4BD8}"/>
              </a:ext>
            </a:extLst>
          </p:cNvPr>
          <p:cNvSpPr txBox="1"/>
          <p:nvPr/>
        </p:nvSpPr>
        <p:spPr>
          <a:xfrm>
            <a:off x="1141412" y="5848290"/>
            <a:ext cx="6815137" cy="246221"/>
          </a:xfrm>
          <a:prstGeom prst="rect">
            <a:avLst/>
          </a:prstGeom>
          <a:noFill/>
        </p:spPr>
        <p:txBody>
          <a:bodyPr wrap="square">
            <a:spAutoFit/>
          </a:bodyPr>
          <a:lstStyle/>
          <a:p>
            <a:r>
              <a:rPr lang="en-ZA" sz="1000" dirty="0">
                <a:latin typeface="Aptos" panose="020B0004020202020204" pitchFamily="34" charset="0"/>
              </a:rPr>
              <a:t>Live in Power BI, then over to Timothy for the Shiny app.</a:t>
            </a:r>
          </a:p>
        </p:txBody>
      </p:sp>
      <p:pic>
        <p:nvPicPr>
          <p:cNvPr id="10" name="Picture 9" descr="slide7_dashboard.jpg"/>
          <p:cNvPicPr>
            <a:picLocks noChangeAspect="1"/>
          </p:cNvPicPr>
          <p:nvPr/>
        </p:nvPicPr>
        <p:blipFill>
          <a:blip r:embed="rId3"/>
          <a:stretch>
            <a:fillRect/>
          </a:stretch>
        </p:blipFill>
        <p:spPr>
          <a:xfrm>
            <a:off x="1143000" y="2032000"/>
            <a:ext cx="6096000" cy="3392924"/>
          </a:xfrm>
          <a:prstGeom prst="rect">
            <a:avLst/>
          </a:prstGeom>
        </p:spPr>
      </p:pic>
    </p:spTree>
    <p:extLst>
      <p:ext uri="{BB962C8B-B14F-4D97-AF65-F5344CB8AC3E}">
        <p14:creationId xmlns:p14="http://schemas.microsoft.com/office/powerpoint/2010/main" val="55662078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esh">
  <a:themeElements>
    <a:clrScheme name="Mesh">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Mesh">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Mesh">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TM03457485[[fn=Mesh]]</Template>
  <TotalTime>30</TotalTime>
  <Words>984</Words>
  <Application>Microsoft Office PowerPoint</Application>
  <PresentationFormat>Widescreen</PresentationFormat>
  <Paragraphs>88</Paragraphs>
  <Slides>7</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Arial</vt:lpstr>
      <vt:lpstr>Century Gothic</vt:lpstr>
      <vt:lpstr>Mesh</vt:lpstr>
      <vt:lpstr>Bin 381 Milestone 4 Group 1</vt:lpstr>
      <vt:lpstr>Goal and Approach</vt:lpstr>
      <vt:lpstr>Data Strategy</vt:lpstr>
      <vt:lpstr>Modelling approach</vt:lpstr>
      <vt:lpstr>Model performance</vt:lpstr>
      <vt:lpstr>Key findings</vt:lpstr>
      <vt:lpstr>Dashboard 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Alexander Solomon</dc:creator>
  <cp:lastModifiedBy>Alexander Solomon</cp:lastModifiedBy>
  <cp:revision>2</cp:revision>
  <dcterms:created xsi:type="dcterms:W3CDTF">2026-10-19T16:30:35Z</dcterms:created>
  <dcterms:modified xsi:type="dcterms:W3CDTF">2026-10-19T20:42:26Z</dcterms:modified>
</cp:coreProperties>
</file>