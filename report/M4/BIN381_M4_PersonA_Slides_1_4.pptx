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72E07-6C3D-4AEF-8439-237E215FFB06}" v="10" dt="2026-10-19T16:56:01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Solomon" userId="81af70ec-ae71-433d-88a9-3b7cbf63168f" providerId="ADAL" clId="{19185622-C3F4-4CEF-A275-F75CF23C305D}"/>
    <pc:docChg chg="modSld">
      <pc:chgData name="Alexander Solomon" userId="81af70ec-ae71-433d-88a9-3b7cbf63168f" providerId="ADAL" clId="{19185622-C3F4-4CEF-A275-F75CF23C305D}" dt="2026-10-19T16:56:01.319" v="9" actId="767"/>
      <pc:docMkLst>
        <pc:docMk/>
      </pc:docMkLst>
      <pc:sldChg chg="addSp modSp">
        <pc:chgData name="Alexander Solomon" userId="81af70ec-ae71-433d-88a9-3b7cbf63168f" providerId="ADAL" clId="{19185622-C3F4-4CEF-A275-F75CF23C305D}" dt="2026-10-19T16:47:13.967" v="1" actId="767"/>
        <pc:sldMkLst>
          <pc:docMk/>
          <pc:sldMk cId="467632067" sldId="258"/>
        </pc:sldMkLst>
        <pc:spChg chg="add mod">
          <ac:chgData name="Alexander Solomon" userId="81af70ec-ae71-433d-88a9-3b7cbf63168f" providerId="ADAL" clId="{19185622-C3F4-4CEF-A275-F75CF23C305D}" dt="2026-10-19T16:45:48.658" v="0" actId="767"/>
          <ac:spMkLst>
            <pc:docMk/>
            <pc:sldMk cId="467632067" sldId="258"/>
            <ac:spMk id="3" creationId="{92BCFF48-3F33-E6B7-6337-4337D115CD31}"/>
          </ac:spMkLst>
        </pc:spChg>
        <pc:spChg chg="add mod">
          <ac:chgData name="Alexander Solomon" userId="81af70ec-ae71-433d-88a9-3b7cbf63168f" providerId="ADAL" clId="{19185622-C3F4-4CEF-A275-F75CF23C305D}" dt="2026-10-19T16:47:13.967" v="1" actId="767"/>
          <ac:spMkLst>
            <pc:docMk/>
            <pc:sldMk cId="467632067" sldId="258"/>
            <ac:spMk id="6" creationId="{5C2C44F7-D166-FB5F-7D0B-3458C77DA94B}"/>
          </ac:spMkLst>
        </pc:spChg>
      </pc:sldChg>
      <pc:sldChg chg="addSp modSp">
        <pc:chgData name="Alexander Solomon" userId="81af70ec-ae71-433d-88a9-3b7cbf63168f" providerId="ADAL" clId="{19185622-C3F4-4CEF-A275-F75CF23C305D}" dt="2026-10-19T16:56:01.319" v="9" actId="767"/>
        <pc:sldMkLst>
          <pc:docMk/>
          <pc:sldMk cId="556620780" sldId="259"/>
        </pc:sldMkLst>
        <pc:spChg chg="add mod">
          <ac:chgData name="Alexander Solomon" userId="81af70ec-ae71-433d-88a9-3b7cbf63168f" providerId="ADAL" clId="{19185622-C3F4-4CEF-A275-F75CF23C305D}" dt="2026-10-19T16:50:51.005" v="2" actId="767"/>
          <ac:spMkLst>
            <pc:docMk/>
            <pc:sldMk cId="556620780" sldId="259"/>
            <ac:spMk id="3" creationId="{FE9297A4-1992-4484-5CC0-1890A6C615D8}"/>
          </ac:spMkLst>
        </pc:spChg>
        <pc:spChg chg="add mod">
          <ac:chgData name="Alexander Solomon" userId="81af70ec-ae71-433d-88a9-3b7cbf63168f" providerId="ADAL" clId="{19185622-C3F4-4CEF-A275-F75CF23C305D}" dt="2026-10-19T16:55:25.509" v="8"/>
          <ac:spMkLst>
            <pc:docMk/>
            <pc:sldMk cId="556620780" sldId="259"/>
            <ac:spMk id="6" creationId="{0B20D662-6E1A-AFE4-9EDF-5CB8010C8DDE}"/>
          </ac:spMkLst>
        </pc:spChg>
        <pc:spChg chg="add mod">
          <ac:chgData name="Alexander Solomon" userId="81af70ec-ae71-433d-88a9-3b7cbf63168f" providerId="ADAL" clId="{19185622-C3F4-4CEF-A275-F75CF23C305D}" dt="2026-10-19T16:56:01.319" v="9" actId="767"/>
          <ac:spMkLst>
            <pc:docMk/>
            <pc:sldMk cId="556620780" sldId="259"/>
            <ac:spMk id="7" creationId="{0F3B1B2A-8E7E-D69D-CCB1-A24D0C4A1E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174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43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222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900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12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19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37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472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981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134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6477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5314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6223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8698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0982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7851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68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58508DA-1D88-4EFE-8D34-BDD707923C50}" type="datetimeFigureOut">
              <a:rPr lang="en-ZA" smtClean="0"/>
              <a:t>19 Oct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9103FB4-0C10-4E2C-BA31-83FCBF4FB6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573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BB4934-EA1F-82CA-E9C5-FAFF9DD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666750"/>
          </a:xfrm>
        </p:spPr>
        <p:txBody>
          <a:bodyPr>
            <a:normAutofit/>
          </a:bodyPr>
          <a:lstStyle/>
          <a:p>
            <a:r>
              <a:rPr lang="en-ZA" dirty="0"/>
              <a:t>Bin 381 Milestone 4 Group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0A0DE-9A5B-885A-BAEE-C6DDCD0C63AF}"/>
              </a:ext>
            </a:extLst>
          </p:cNvPr>
          <p:cNvSpPr txBox="1"/>
          <p:nvPr/>
        </p:nvSpPr>
        <p:spPr>
          <a:xfrm>
            <a:off x="1141413" y="1627094"/>
            <a:ext cx="99059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/>
              <a:t>Which household should food-security teams visit first?</a:t>
            </a:r>
          </a:p>
          <a:p>
            <a:endParaRPr lang="en-ZA" sz="2800" dirty="0"/>
          </a:p>
          <a:p>
            <a:r>
              <a:rPr lang="en-ZA" sz="2000" dirty="0">
                <a:latin typeface="Aptos" panose="020B0004020202020204" pitchFamily="34" charset="0"/>
              </a:rPr>
              <a:t>A screening aid built from the General Household Survey 2024, for decision-makers with limited budgets.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4C2C6-7492-7263-B764-5B68B84D549A}"/>
              </a:ext>
            </a:extLst>
          </p:cNvPr>
          <p:cNvSpPr txBox="1"/>
          <p:nvPr/>
        </p:nvSpPr>
        <p:spPr>
          <a:xfrm>
            <a:off x="1141413" y="4430687"/>
            <a:ext cx="17462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20,940</a:t>
            </a:r>
          </a:p>
          <a:p>
            <a:r>
              <a:rPr lang="en-ZA" sz="1000" dirty="0">
                <a:latin typeface="Aptos" panose="020B0004020202020204" pitchFamily="34" charset="0"/>
              </a:rPr>
              <a:t>Households in the survey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2C68A-4B96-FF22-F632-6450812855CF}"/>
              </a:ext>
            </a:extLst>
          </p:cNvPr>
          <p:cNvSpPr txBox="1"/>
          <p:nvPr/>
        </p:nvSpPr>
        <p:spPr>
          <a:xfrm>
            <a:off x="3028950" y="4430686"/>
            <a:ext cx="17462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30.6%</a:t>
            </a:r>
          </a:p>
          <a:p>
            <a:r>
              <a:rPr lang="en-ZA" sz="1000" dirty="0">
                <a:latin typeface="Aptos" panose="020B0004020202020204" pitchFamily="34" charset="0"/>
              </a:rPr>
              <a:t>At risk of food insecurity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899DC-1212-4281-CDE3-399F959EB3E4}"/>
              </a:ext>
            </a:extLst>
          </p:cNvPr>
          <p:cNvSpPr txBox="1"/>
          <p:nvPr/>
        </p:nvSpPr>
        <p:spPr>
          <a:xfrm>
            <a:off x="4916487" y="4430686"/>
            <a:ext cx="220821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A screen</a:t>
            </a:r>
          </a:p>
          <a:p>
            <a:r>
              <a:rPr lang="en-ZA" sz="1000" dirty="0">
                <a:latin typeface="Aptos" panose="020B0004020202020204" pitchFamily="34" charset="0"/>
              </a:rPr>
              <a:t>Not an eligibility 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637ED-D4E7-0E36-7C47-31024FE9134B}"/>
              </a:ext>
            </a:extLst>
          </p:cNvPr>
          <p:cNvSpPr txBox="1"/>
          <p:nvPr/>
        </p:nvSpPr>
        <p:spPr>
          <a:xfrm>
            <a:off x="1141413" y="5787728"/>
            <a:ext cx="6540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>
                <a:latin typeface="Aptos" panose="020B0004020202020204" pitchFamily="34" charset="0"/>
              </a:rPr>
              <a:t>Alexander Solomon ● Rudi Jan du Plessis ● Timothy </a:t>
            </a:r>
            <a:r>
              <a:rPr lang="en-ZA" sz="1000" dirty="0" err="1">
                <a:latin typeface="Aptos" panose="020B0004020202020204" pitchFamily="34" charset="0"/>
              </a:rPr>
              <a:t>Wubbeling</a:t>
            </a:r>
            <a:endParaRPr lang="en-ZA" sz="1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28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62907E-D7DF-3BA8-D941-EF8219BC1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444500"/>
          </a:xfrm>
        </p:spPr>
        <p:txBody>
          <a:bodyPr>
            <a:noAutofit/>
          </a:bodyPr>
          <a:lstStyle/>
          <a:p>
            <a:r>
              <a:rPr lang="en-ZA" dirty="0"/>
              <a:t>Goal and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F07A2-6116-D802-106F-48254DA98932}"/>
              </a:ext>
            </a:extLst>
          </p:cNvPr>
          <p:cNvSpPr txBox="1"/>
          <p:nvPr/>
        </p:nvSpPr>
        <p:spPr>
          <a:xfrm>
            <a:off x="1141413" y="1257300"/>
            <a:ext cx="724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ptos" panose="020B0004020202020204" pitchFamily="34" charset="0"/>
              </a:rPr>
              <a:t>Three goals, six phases, three changes of mind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CCC44-0FC1-C494-3CBB-7AC7E0AEA0AC}"/>
              </a:ext>
            </a:extLst>
          </p:cNvPr>
          <p:cNvSpPr txBox="1"/>
          <p:nvPr/>
        </p:nvSpPr>
        <p:spPr>
          <a:xfrm>
            <a:off x="1212850" y="1943100"/>
            <a:ext cx="2654300" cy="861774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Indicators</a:t>
            </a:r>
          </a:p>
          <a:p>
            <a:r>
              <a:rPr lang="en-ZA" sz="1600" dirty="0">
                <a:latin typeface="Aptos" panose="020B0004020202020204" pitchFamily="34" charset="0"/>
              </a:rPr>
              <a:t>Where food insecurity sits and who is affected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B785D-0E5E-DF08-A8CF-EE23E7D48DC6}"/>
              </a:ext>
            </a:extLst>
          </p:cNvPr>
          <p:cNvSpPr txBox="1"/>
          <p:nvPr/>
        </p:nvSpPr>
        <p:spPr>
          <a:xfrm>
            <a:off x="1212850" y="2998113"/>
            <a:ext cx="2654300" cy="861774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Classification model</a:t>
            </a:r>
          </a:p>
          <a:p>
            <a:r>
              <a:rPr lang="en-ZA" sz="1600" dirty="0">
                <a:latin typeface="Aptos" panose="020B0004020202020204" pitchFamily="34" charset="0"/>
              </a:rPr>
              <a:t>Flag households that are likely to be at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DE58F-75DD-F34F-8ED5-A9FE0D865760}"/>
              </a:ext>
            </a:extLst>
          </p:cNvPr>
          <p:cNvSpPr txBox="1"/>
          <p:nvPr/>
        </p:nvSpPr>
        <p:spPr>
          <a:xfrm>
            <a:off x="1212850" y="4053126"/>
            <a:ext cx="2654300" cy="861774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Decision dashboard</a:t>
            </a:r>
          </a:p>
          <a:p>
            <a:r>
              <a:rPr lang="en-ZA" sz="1600" dirty="0">
                <a:latin typeface="Aptos" panose="020B0004020202020204" pitchFamily="34" charset="0"/>
              </a:rPr>
              <a:t>Where food insecurity sits and who is affected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045EB6-B942-9EA5-8411-4738CB636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088" y="1905684"/>
            <a:ext cx="5647059" cy="30466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2827B0-13AC-57F2-B057-C334B122F2BC}"/>
              </a:ext>
            </a:extLst>
          </p:cNvPr>
          <p:cNvSpPr txBox="1"/>
          <p:nvPr/>
        </p:nvSpPr>
        <p:spPr>
          <a:xfrm>
            <a:off x="1212850" y="6002179"/>
            <a:ext cx="68770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000" dirty="0">
                <a:latin typeface="Aptos" panose="020B0004020202020204" pitchFamily="34" charset="0"/>
              </a:rPr>
              <a:t>Dashed arrows: the integration key repair, the duplicate-ID finding and the move to binary model all sent us back a phase.</a:t>
            </a:r>
          </a:p>
        </p:txBody>
      </p:sp>
    </p:spTree>
    <p:extLst>
      <p:ext uri="{BB962C8B-B14F-4D97-AF65-F5344CB8AC3E}">
        <p14:creationId xmlns:p14="http://schemas.microsoft.com/office/powerpoint/2010/main" val="226941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E32E-349F-204C-A27D-356C6ED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653308"/>
          </a:xfrm>
        </p:spPr>
        <p:txBody>
          <a:bodyPr/>
          <a:lstStyle/>
          <a:p>
            <a:r>
              <a:rPr lang="en-ZA" dirty="0"/>
              <a:t>Data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CFF48-3F33-E6B7-6337-4337D115CD31}"/>
              </a:ext>
            </a:extLst>
          </p:cNvPr>
          <p:cNvSpPr txBox="1"/>
          <p:nvPr/>
        </p:nvSpPr>
        <p:spPr>
          <a:xfrm>
            <a:off x="1141413" y="1562100"/>
            <a:ext cx="712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ptos" panose="020B0004020202020204" pitchFamily="34" charset="0"/>
              </a:rPr>
              <a:t>Seven of eleven files, joined with no household lost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A620F-2A16-62C7-DE98-14749C378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09" y="2131715"/>
            <a:ext cx="5680205" cy="2411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C44F7-D166-FB5F-7D0B-3458C77DA94B}"/>
              </a:ext>
            </a:extLst>
          </p:cNvPr>
          <p:cNvSpPr txBox="1"/>
          <p:nvPr/>
        </p:nvSpPr>
        <p:spPr>
          <a:xfrm>
            <a:off x="1141413" y="4834236"/>
            <a:ext cx="1455737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15</a:t>
            </a:r>
          </a:p>
          <a:p>
            <a:r>
              <a:rPr lang="en-ZA" sz="1000" dirty="0">
                <a:latin typeface="Aptos" panose="020B0004020202020204" pitchFamily="34" charset="0"/>
              </a:rPr>
              <a:t>broken keys repaired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568E5-722C-74CF-AC98-859FEBDA85B7}"/>
              </a:ext>
            </a:extLst>
          </p:cNvPr>
          <p:cNvSpPr txBox="1"/>
          <p:nvPr/>
        </p:nvSpPr>
        <p:spPr>
          <a:xfrm>
            <a:off x="4279898" y="4841930"/>
            <a:ext cx="36290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20,940 -&gt; 20,925</a:t>
            </a:r>
          </a:p>
          <a:p>
            <a:r>
              <a:rPr lang="en-ZA" sz="1000" dirty="0">
                <a:latin typeface="Aptos" panose="020B0004020202020204" pitchFamily="34" charset="0"/>
              </a:rPr>
              <a:t>Integrated, then modelled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11DEB-8FB8-305B-DCBD-C845910BFE19}"/>
              </a:ext>
            </a:extLst>
          </p:cNvPr>
          <p:cNvSpPr txBox="1"/>
          <p:nvPr/>
        </p:nvSpPr>
        <p:spPr>
          <a:xfrm>
            <a:off x="8934514" y="4834235"/>
            <a:ext cx="17334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dirty="0">
                <a:latin typeface="Aptos" panose="020B0004020202020204" pitchFamily="34" charset="0"/>
              </a:rPr>
              <a:t>16</a:t>
            </a:r>
          </a:p>
          <a:p>
            <a:r>
              <a:rPr lang="en-ZA" sz="1000" dirty="0">
                <a:latin typeface="Aptos" panose="020B0004020202020204" pitchFamily="34" charset="0"/>
              </a:rPr>
              <a:t>leakage columns excluded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756CB-70A7-1D40-035E-C9204C6C5E1B}"/>
              </a:ext>
            </a:extLst>
          </p:cNvPr>
          <p:cNvSpPr txBox="1"/>
          <p:nvPr/>
        </p:nvSpPr>
        <p:spPr>
          <a:xfrm>
            <a:off x="1141412" y="5848290"/>
            <a:ext cx="71262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000" dirty="0">
                <a:latin typeface="Aptos" panose="020B0004020202020204" pitchFamily="34" charset="0"/>
              </a:rPr>
              <a:t>Person-level files D01-D03 and file D11 were left out, with reasons. Split: 14,646 train, 6,279 test.</a:t>
            </a:r>
          </a:p>
        </p:txBody>
      </p:sp>
    </p:spTree>
    <p:extLst>
      <p:ext uri="{BB962C8B-B14F-4D97-AF65-F5344CB8AC3E}">
        <p14:creationId xmlns:p14="http://schemas.microsoft.com/office/powerpoint/2010/main" val="46763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4360-6490-5821-C767-8B253775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660400"/>
          </a:xfrm>
        </p:spPr>
        <p:txBody>
          <a:bodyPr/>
          <a:lstStyle/>
          <a:p>
            <a:r>
              <a:rPr lang="en-ZA" dirty="0"/>
              <a:t>Modelling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297A4-1992-4484-5CC0-1890A6C615D8}"/>
              </a:ext>
            </a:extLst>
          </p:cNvPr>
          <p:cNvSpPr txBox="1"/>
          <p:nvPr/>
        </p:nvSpPr>
        <p:spPr>
          <a:xfrm>
            <a:off x="1141413" y="1466849"/>
            <a:ext cx="9828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ptos" panose="020B0004020202020204" pitchFamily="34" charset="0"/>
              </a:rPr>
              <a:t>Three tiers failed on the middle tier, so we kept binary lasso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05D9D-CA62-45B2-25A8-3E73AC362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125363"/>
            <a:ext cx="6194624" cy="2675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0D662-6E1A-AFE4-9EDF-5CB8010C8DDE}"/>
              </a:ext>
            </a:extLst>
          </p:cNvPr>
          <p:cNvSpPr txBox="1"/>
          <p:nvPr/>
        </p:nvSpPr>
        <p:spPr>
          <a:xfrm>
            <a:off x="7956550" y="2125363"/>
            <a:ext cx="35750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Fair testing</a:t>
            </a:r>
          </a:p>
          <a:p>
            <a:r>
              <a:rPr lang="en-ZA" dirty="0">
                <a:latin typeface="Aptos" panose="020B0004020202020204" pitchFamily="34" charset="0"/>
              </a:rPr>
              <a:t>Stratified 5-fold cross-validation, with no preprocessing outside the folds</a:t>
            </a:r>
          </a:p>
          <a:p>
            <a:r>
              <a:rPr lang="en-ZA" sz="2400" b="1" u="sng" dirty="0">
                <a:latin typeface="Aptos" panose="020B0004020202020204" pitchFamily="34" charset="0"/>
              </a:rPr>
              <a:t>The middle tier falls</a:t>
            </a:r>
          </a:p>
          <a:p>
            <a:r>
              <a:rPr lang="en-ZA" dirty="0">
                <a:latin typeface="Aptos" panose="020B0004020202020204" pitchFamily="34" charset="0"/>
              </a:rPr>
              <a:t>No three-tier model recalls more than 3.2% of those households</a:t>
            </a:r>
          </a:p>
          <a:p>
            <a:r>
              <a:rPr lang="en-ZA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Binary Lasso</a:t>
            </a:r>
          </a:p>
          <a:p>
            <a:r>
              <a:rPr lang="en-Z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One odds ratio per factor, which fits the app.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B1B2A-8E7E-D69D-CCB1-A24D0C4A1ECE}"/>
              </a:ext>
            </a:extLst>
          </p:cNvPr>
          <p:cNvSpPr txBox="1"/>
          <p:nvPr/>
        </p:nvSpPr>
        <p:spPr>
          <a:xfrm>
            <a:off x="1141413" y="4914900"/>
            <a:ext cx="6194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Cross-validated ROC-AUC. The binary lasso answers a different question, so it is not a like-for-like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A6238-8B81-7B10-6122-1E33CB7F4BD8}"/>
              </a:ext>
            </a:extLst>
          </p:cNvPr>
          <p:cNvSpPr txBox="1"/>
          <p:nvPr/>
        </p:nvSpPr>
        <p:spPr>
          <a:xfrm>
            <a:off x="1141412" y="5848290"/>
            <a:ext cx="68151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000" dirty="0">
                <a:latin typeface="Aptos" panose="020B0004020202020204" pitchFamily="34" charset="0"/>
              </a:rPr>
              <a:t>Class weights were tested and rejected because they damaged </a:t>
            </a:r>
            <a:r>
              <a:rPr lang="en-ZA" sz="1000">
                <a:latin typeface="Aptos" panose="020B0004020202020204" pitchFamily="34" charset="0"/>
              </a:rPr>
              <a:t>the probabilities.</a:t>
            </a:r>
            <a:endParaRPr lang="en-ZA" sz="1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20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30</TotalTime>
  <Words>259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Century Gothic</vt:lpstr>
      <vt:lpstr>Mesh</vt:lpstr>
      <vt:lpstr>Bin 381 Milestone 4 Group 1</vt:lpstr>
      <vt:lpstr>Goal and Approach</vt:lpstr>
      <vt:lpstr>Data Strategy</vt:lpstr>
      <vt:lpstr>Modelling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Solomon</dc:creator>
  <cp:lastModifiedBy>Alexander Solomon</cp:lastModifiedBy>
  <cp:revision>1</cp:revision>
  <dcterms:created xsi:type="dcterms:W3CDTF">2026-10-19T16:30:35Z</dcterms:created>
  <dcterms:modified xsi:type="dcterms:W3CDTF">2026-10-19T17:01:12Z</dcterms:modified>
</cp:coreProperties>
</file>