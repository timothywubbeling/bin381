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12"/>
    <p:sldId id="261" r:id="rId13"/>
    <p:sldId id="262" r:id="rId14"/>
    <p:sldId id="263" r:id="rId16"/>
    <p:sldId id="264" r:id="rId17"/>
    <p:sldId id="265"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672E07-6C3D-4AEF-8439-237E215FFB06}" v="10" dt="2026-10-19T16:56:01.3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4660"/>
  </p:normalViewPr>
  <p:slideViewPr>
    <p:cSldViewPr snapToGrid="0">
      <p:cViewPr varScale="1">
        <p:scale>
          <a:sx n="150" d="100"/>
          <a:sy n="150" d="100"/>
        </p:scale>
        <p:origin x="702"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6/11/relationships/changesInfo" Target="changesInfos/changesInfo1.xml"/><Relationship Id="rId11" Type="http://schemas.microsoft.com/office/2015/10/relationships/revisionInfo" Target="revisionInfo.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notesMaster" Target="notesMasters/notesMaster1.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er Solomon" userId="81af70ec-ae71-433d-88a9-3b7cbf63168f" providerId="ADAL" clId="{19185622-C3F4-4CEF-A275-F75CF23C305D}"/>
    <pc:docChg chg="modSld">
      <pc:chgData name="Alexander Solomon" userId="81af70ec-ae71-433d-88a9-3b7cbf63168f" providerId="ADAL" clId="{19185622-C3F4-4CEF-A275-F75CF23C305D}" dt="2026-10-19T16:56:01.319" v="9" actId="767"/>
      <pc:docMkLst>
        <pc:docMk/>
      </pc:docMkLst>
      <pc:sldChg chg="addSp modSp">
        <pc:chgData name="Alexander Solomon" userId="81af70ec-ae71-433d-88a9-3b7cbf63168f" providerId="ADAL" clId="{19185622-C3F4-4CEF-A275-F75CF23C305D}" dt="2026-10-19T16:47:13.967" v="1" actId="767"/>
        <pc:sldMkLst>
          <pc:docMk/>
          <pc:sldMk cId="467632067" sldId="258"/>
        </pc:sldMkLst>
        <pc:spChg chg="add mod">
          <ac:chgData name="Alexander Solomon" userId="81af70ec-ae71-433d-88a9-3b7cbf63168f" providerId="ADAL" clId="{19185622-C3F4-4CEF-A275-F75CF23C305D}" dt="2026-10-19T16:45:48.658" v="0" actId="767"/>
          <ac:spMkLst>
            <pc:docMk/>
            <pc:sldMk cId="467632067" sldId="258"/>
            <ac:spMk id="3" creationId="{92BCFF48-3F33-E6B7-6337-4337D115CD31}"/>
          </ac:spMkLst>
        </pc:spChg>
        <pc:spChg chg="add mod">
          <ac:chgData name="Alexander Solomon" userId="81af70ec-ae71-433d-88a9-3b7cbf63168f" providerId="ADAL" clId="{19185622-C3F4-4CEF-A275-F75CF23C305D}" dt="2026-10-19T16:47:13.967" v="1" actId="767"/>
          <ac:spMkLst>
            <pc:docMk/>
            <pc:sldMk cId="467632067" sldId="258"/>
            <ac:spMk id="6" creationId="{5C2C44F7-D166-FB5F-7D0B-3458C77DA94B}"/>
          </ac:spMkLst>
        </pc:spChg>
      </pc:sldChg>
      <pc:sldChg chg="addSp modSp">
        <pc:chgData name="Alexander Solomon" userId="81af70ec-ae71-433d-88a9-3b7cbf63168f" providerId="ADAL" clId="{19185622-C3F4-4CEF-A275-F75CF23C305D}" dt="2026-10-19T16:56:01.319" v="9" actId="767"/>
        <pc:sldMkLst>
          <pc:docMk/>
          <pc:sldMk cId="556620780" sldId="259"/>
        </pc:sldMkLst>
        <pc:spChg chg="add mod">
          <ac:chgData name="Alexander Solomon" userId="81af70ec-ae71-433d-88a9-3b7cbf63168f" providerId="ADAL" clId="{19185622-C3F4-4CEF-A275-F75CF23C305D}" dt="2026-10-19T16:50:51.005" v="2" actId="767"/>
          <ac:spMkLst>
            <pc:docMk/>
            <pc:sldMk cId="556620780" sldId="259"/>
            <ac:spMk id="3" creationId="{FE9297A4-1992-4484-5CC0-1890A6C615D8}"/>
          </ac:spMkLst>
        </pc:spChg>
        <pc:spChg chg="add mod">
          <ac:chgData name="Alexander Solomon" userId="81af70ec-ae71-433d-88a9-3b7cbf63168f" providerId="ADAL" clId="{19185622-C3F4-4CEF-A275-F75CF23C305D}" dt="2026-10-19T16:55:25.509" v="8"/>
          <ac:spMkLst>
            <pc:docMk/>
            <pc:sldMk cId="556620780" sldId="259"/>
            <ac:spMk id="6" creationId="{0B20D662-6E1A-AFE4-9EDF-5CB8010C8DDE}"/>
          </ac:spMkLst>
        </pc:spChg>
        <pc:spChg chg="add mod">
          <ac:chgData name="Alexander Solomon" userId="81af70ec-ae71-433d-88a9-3b7cbf63168f" providerId="ADAL" clId="{19185622-C3F4-4CEF-A275-F75CF23C305D}" dt="2026-10-19T16:56:01.319" v="9" actId="767"/>
          <ac:spMkLst>
            <pc:docMk/>
            <pc:sldMk cId="556620780" sldId="259"/>
            <ac:spMk id="7" creationId="{0F3B1B2A-8E7E-D69D-CCB1-A24D0C4A1EC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chose the threshold before we looked at the test data, with a rule agreed up front: find at least 80% of at-risk households at the fewest referrals. That lands on 0.24. On data the model had never seen it finds 80.7% of at-risk households, and 85.7% of the severely food insecure.</a:t>
            </a:r>
          </a:p>
          <a:p/>
          <a:p>
            <a:r>
              <a:t>The cost is the orange line. Four in ten referrals turn out to be food secure, and we send three in five households for follow-up. That is a dial, not a fact: raise the threshold and you visit fewer households but miss more. The dashboard lets programme managers set it against the capacity they actually have.</a:t>
            </a:r>
          </a:p>
          <a:p/>
          <a:p>
            <a:r>
              <a:t>A random forest scored slightly better (about 0.009 AUC). We kept the logistic model because every referral has to be explained to an official, and it gives one interpretable odds ratio per factor.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strongest single signal is not income level, it is income change. Whether a household is worse off than a year ago matters about two and a half times more than any other answer, and it can be asked at intake in one sentence.</a:t>
            </a:r>
          </a:p>
          <a:p/>
          <a:p>
            <a:r>
              <a:t>Grant households are more food insecure, not less: 37.6% against 20.6%. That is not evidence that grants cause harm. Grants are means-tested, so they mark households that were already poor, and one survey wave cannot separate targeting from effect.</a:t>
            </a:r>
          </a:p>
          <a:p/>
          <a:p>
            <a:r>
              <a:t>The right-hand chart is the honest limitation. The screen finds 94% of at-risk households earning under R2,500 and only 39% above R11,500. It is weakest exactly where food insecurity is least expected, so a lower-risk result is not clearance, and self-referral stays open.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the dashboard open before the talk starts.</a:t>
            </a:r>
          </a:p>
          <a:p>
            <a:r>
              <a:t>1. Overview page: six decision questions, every page answers one of them.</a:t>
            </a:r>
          </a:p>
          <a:p>
            <a:r>
              <a:t>2. 'How well the screen works': the four cards are the slide 5 numbers, live from the final dataset.</a:t>
            </a:r>
          </a:p>
          <a:p>
            <a:r>
              <a:t>3. Set the threshold to 0.30: recall drops from 80.7% to 67.8% and referrals from 59% to 44%, about 150 fewer households per thousand to visit and roughly one in eight at-risk households newly missed. Put it back to 0.24.</a:t>
            </a:r>
          </a:p>
          <a:p>
            <a:r>
              <a:t>4. 'Who the screen misses': click through income, grants and province. Income above R11,500 sits far outside the tolerance band, a documented limitation.</a:t>
            </a:r>
          </a:p>
          <a:p>
            <a:r>
              <a:t>5. 'What drives risk': income change at the top, odds ratios with confidence intervals.</a:t>
            </a:r>
          </a:p>
          <a:p>
            <a:r>
              <a:t>6. Hand over to Timothy for the Shiny app.</a:t>
            </a:r>
          </a:p>
          <a:p>
            <a:r>
              <a:t>If the live demo fails, use this screenshot and slides 5 and 6, and keep going.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in this order:</a:t>
            </a:r>
          </a:p>
          <a:p/>
          <a:p>
            <a:r>
              <a:t>1. One household. Type the rural example: income fell sharply, no electricity, six people,</a:t>
            </a:r>
          </a:p>
          <a:p>
            <a:r>
              <a:t>   R1,200 a month, two grant recipients, pit latrine. Score it. Point at the three factors the app</a:t>
            </a:r>
          </a:p>
          <a:p>
            <a:r>
              <a:t>   gives back, and at the words it uses - "Higher risk: refer for review", never "food insecure".</a:t>
            </a:r>
          </a:p>
          <a:p>
            <a:r>
              <a:t>2. The contrast. Change income to R30,000 and settlement to urban, re-score, and let the</a:t>
            </a:r>
          </a:p>
          <a:p>
            <a:r>
              <a:t>   probability drop. That is the whole model in one gesture.</a:t>
            </a:r>
          </a:p>
          <a:p>
            <a:r>
              <a:t>3. The batch. Upload tests/messy_households.csv - 13 deliberately broken rows. Scroll the issues</a:t>
            </a:r>
          </a:p>
          <a:p>
            <a:r>
              <a:t>   table: sentinel codes recoded, an impossible household size rejected, a duplicate identifier</a:t>
            </a:r>
          </a:p>
          <a:p>
            <a:r>
              <a:t>   flagged, rows with too much missing left unscored rather than guessed.</a:t>
            </a:r>
          </a:p>
          <a:p>
            <a:r>
              <a:t>4. The limits page. Land here, not on a score. Read the two lines about which households the</a:t>
            </a:r>
          </a:p>
          <a:p>
            <a:r>
              <a:t>   screen misses.</a:t>
            </a:r>
          </a:p>
          <a:p/>
          <a:p>
            <a:r>
              <a:t>This is the part a field officer actually touches. Seven questions, short enough to ask at a door,</a:t>
            </a:r>
          </a:p>
          <a:p>
            <a:r>
              <a:t>and the answer comes back with the three things that drove it - so the officer can say why a</a:t>
            </a:r>
          </a:p>
          <a:p>
            <a:r>
              <a:t>household was referred, and a supervisor can disagree with it.</a:t>
            </a:r>
          </a:p>
          <a:p/>
          <a:p>
            <a:r>
              <a:t>Likely question - what happens if someone uploads real household IDs? They stay in the file and</a:t>
            </a:r>
          </a:p>
          <a:p>
            <a:r>
              <a:t>never leave the machine. Uploads are processed in memory and not written to disk, identifiers are</a:t>
            </a:r>
          </a:p>
          <a:p>
            <a:r>
              <a:t>never returned in the download, and the monitoring log keeps totals only.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starts from a number on Rudi's slides, and each has a limit attached, because the</a:t>
            </a:r>
          </a:p>
          <a:p>
            <a:r>
              <a:t>limits are what make them safe to act on.</a:t>
            </a:r>
          </a:p>
          <a:p/>
          <a:p>
            <a:r>
              <a:t>The first is a budget decision disguised as a technical one. At our threshold the tool refers about</a:t>
            </a:r>
          </a:p>
          <a:p>
            <a:r>
              <a:t>three households in five, and about four in ten of those referrals turn out to be food secure. That</a:t>
            </a:r>
          </a:p>
          <a:p>
            <a:r>
              <a:t>is the cost of finding four in five of the households that are at risk. Managers should size</a:t>
            </a:r>
          </a:p>
          <a:p>
            <a:r>
              <a:t>follow-up capacity against that rate before go-live - or move the threshold knowingly, which the</a:t>
            </a:r>
          </a:p>
          <a:p>
            <a:r>
              <a:t>dashboard lets them do, and accept that they will miss more people.</a:t>
            </a:r>
          </a:p>
          <a:p/>
          <a:p>
            <a:r>
              <a:t>The second is the cheapest thing on this list. One question about whether income has fallen carries</a:t>
            </a:r>
          </a:p>
          <a:p>
            <a:r>
              <a:t>more signal than anything else we measured, and it can be asked without the model at all.</a:t>
            </a:r>
          </a:p>
          <a:p/>
          <a:p>
            <a:r>
              <a:t>The third needs the caution said out loud. Grant-receiving households are at higher risk because</a:t>
            </a:r>
          </a:p>
          <a:p>
            <a:r>
              <a:t>grants are targeted at poor households. That is a reason to use the registers to find people</a:t>
            </a:r>
          </a:p>
          <a:p>
            <a:r>
              <a:t>quickly. It is not evidence that grants cause food insecurity.</a:t>
            </a:r>
          </a:p>
          <a:p/>
          <a:p>
            <a:r>
              <a:t>The last one is there because of what we found about ourselves. The screen is weakest for</a:t>
            </a:r>
          </a:p>
          <a:p>
            <a:r>
              <a:t>households that do not look poor on our seven inputs. We chose not to patch that with a different</a:t>
            </a:r>
          </a:p>
          <a:p>
            <a:r>
              <a:t>threshold for richer households, because that means treating people differently by income on the</a:t>
            </a:r>
          </a:p>
          <a:p>
            <a:r>
              <a:t>basis of a proxy. We publish the gap instead, and ask for a monthly audit. Keep self-referral open.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would rather say these ourselves than have them found.</a:t>
            </a:r>
          </a:p>
          <a:p/>
          <a:p>
            <a:r>
              <a:t>An AUC of 0.736 is moderate. It separates risk better than chance by a useful margin, and it is</a:t>
            </a:r>
          </a:p>
          <a:p>
            <a:r>
              <a:t>nowhere near good enough to decide anything on its own - which is exactly why the design keeps a</a:t>
            </a:r>
          </a:p>
          <a:p>
            <a:r>
              <a:t>person in the loop and why we talk about referrals rather than decisions.</a:t>
            </a:r>
          </a:p>
          <a:p/>
          <a:p>
            <a:r>
              <a:t>The deeper limitation is the target. We never observed whether a household went without food. We</a:t>
            </a:r>
          </a:p>
          <a:p>
            <a:r>
              <a:t>built a proxy out of eight survey answers and predicted it from seven other answers about the same</a:t>
            </a:r>
          </a:p>
          <a:p>
            <a:r>
              <a:t>household at the same moment. That tells you who looks like the households that report hunger. It</a:t>
            </a:r>
          </a:p>
          <a:p>
            <a:r>
              <a:t>does not tell you why, and it cannot tell you what would change if you intervened. The reversed</a:t>
            </a:r>
          </a:p>
          <a:p>
            <a:r>
              <a:t>grant result is the clearest case: targeting and effect cannot be separated in one cross-section.</a:t>
            </a:r>
          </a:p>
          <a:p/>
          <a:p>
            <a:r>
              <a:t>So the first thing on the right matters most. The moment officials record what they actually found</a:t>
            </a:r>
          </a:p>
          <a:p>
            <a:r>
              <a:t>when they visited, we can retrain on real outcomes instead of a survey proxy, and measure precision</a:t>
            </a:r>
          </a:p>
          <a:p>
            <a:r>
              <a:t>in the field rather than against our own label.</a:t>
            </a:r>
          </a:p>
          <a:p/>
          <a:p>
            <a:r>
              <a:t>Until then, the honest summary is the line at the bottom. Thank you - we are happy to take</a:t>
            </a:r>
          </a:p>
          <a:p>
            <a:r>
              <a:t>questions on any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question was a targeting one: when the institute can only follow up a fraction of households, which ones should it visit first? 20,940 households in the survey, three in ten at risk. What we built is a screen that ranks them - not a test of who qualifies for anything. Alexander takes the problem, the data and the modelling; Rudi the results and the dashboard; Timothy the app, the recommendations and the limits.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goals from Milestone 1: rank the indicators, build an interpretable model without leakage, and give decision-makers self-service exploration. We followed CRISP-DM in order and went back three times when the evidence demanded it - the key repair, the duplicate-ID finding, and the move to a binary target. The dashed arrows on the diagram are those three returns.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of the eleven files are household-level and were kept. D01 to D03 are person-level and D11 is a different survey with no shared household IDs, so both were left out with reasons. The joins are guarded one-to-one joins that stop rather than drop a household: 15 placeholder keys in D05 were repaired, not discarded. Sixteen columns that define or proxy the target are excluded from the predictors, and the notebook fails if one appears.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tuned three model families with stratified five-fold cross-validation, with all preprocessing re-learned inside each fold. The three-tier target failed on the middle tier - no three-tier model recalls more than 3.2% of those households - and we had written the binary fallback down in advance rather than inventing it afterwards. Class weights were tested and rejected: they helped recall but wrecked the probabilities, and the app reports a probability.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58508DA-1D88-4EFE-8D34-BDD707923C50}" type="datetimeFigureOut">
              <a:rPr lang="en-ZA" smtClean="0"/>
              <a:t>19 Oct 2026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9103FB4-0C10-4E2C-BA31-83FCBF4FB638}" type="slidenum">
              <a:rPr lang="en-ZA" smtClean="0"/>
              <a:t>‹#›</a:t>
            </a:fld>
            <a:endParaRPr lang="en-ZA"/>
          </a:p>
        </p:txBody>
      </p:sp>
    </p:spTree>
    <p:extLst>
      <p:ext uri="{BB962C8B-B14F-4D97-AF65-F5344CB8AC3E}">
        <p14:creationId xmlns:p14="http://schemas.microsoft.com/office/powerpoint/2010/main" val="961749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8508DA-1D88-4EFE-8D34-BDD707923C50}" type="datetimeFigureOut">
              <a:rPr lang="en-ZA" smtClean="0"/>
              <a:t>19 Oct 2026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9103FB4-0C10-4E2C-BA31-83FCBF4FB638}" type="slidenum">
              <a:rPr lang="en-ZA" smtClean="0"/>
              <a:t>‹#›</a:t>
            </a:fld>
            <a:endParaRPr lang="en-ZA"/>
          </a:p>
        </p:txBody>
      </p:sp>
    </p:spTree>
    <p:extLst>
      <p:ext uri="{BB962C8B-B14F-4D97-AF65-F5344CB8AC3E}">
        <p14:creationId xmlns:p14="http://schemas.microsoft.com/office/powerpoint/2010/main" val="1474307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8508DA-1D88-4EFE-8D34-BDD707923C50}" type="datetimeFigureOut">
              <a:rPr lang="en-ZA" smtClean="0"/>
              <a:t>19 Oct 2026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9103FB4-0C10-4E2C-BA31-83FCBF4FB638}" type="slidenum">
              <a:rPr lang="en-ZA" smtClean="0"/>
              <a:t>‹#›</a:t>
            </a:fld>
            <a:endParaRPr lang="en-ZA"/>
          </a:p>
        </p:txBody>
      </p:sp>
    </p:spTree>
    <p:extLst>
      <p:ext uri="{BB962C8B-B14F-4D97-AF65-F5344CB8AC3E}">
        <p14:creationId xmlns:p14="http://schemas.microsoft.com/office/powerpoint/2010/main" val="2442220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8508DA-1D88-4EFE-8D34-BDD707923C50}" type="datetimeFigureOut">
              <a:rPr lang="en-ZA" smtClean="0"/>
              <a:t>19 Oct 2026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09103FB4-0C10-4E2C-BA31-83FCBF4FB638}" type="slidenum">
              <a:rPr lang="en-ZA" smtClean="0"/>
              <a:t>‹#›</a:t>
            </a:fld>
            <a:endParaRPr lang="en-ZA"/>
          </a:p>
        </p:txBody>
      </p:sp>
    </p:spTree>
    <p:extLst>
      <p:ext uri="{BB962C8B-B14F-4D97-AF65-F5344CB8AC3E}">
        <p14:creationId xmlns:p14="http://schemas.microsoft.com/office/powerpoint/2010/main" val="929001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8508DA-1D88-4EFE-8D34-BDD707923C50}" type="datetimeFigureOut">
              <a:rPr lang="en-ZA" smtClean="0"/>
              <a:t>19 Oct 2026</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09103FB4-0C10-4E2C-BA31-83FCBF4FB638}" type="slidenum">
              <a:rPr lang="en-ZA" smtClean="0"/>
              <a:t>‹#›</a:t>
            </a:fld>
            <a:endParaRPr lang="en-ZA"/>
          </a:p>
        </p:txBody>
      </p:sp>
    </p:spTree>
    <p:extLst>
      <p:ext uri="{BB962C8B-B14F-4D97-AF65-F5344CB8AC3E}">
        <p14:creationId xmlns:p14="http://schemas.microsoft.com/office/powerpoint/2010/main" val="2171123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8508DA-1D88-4EFE-8D34-BDD707923C50}" type="datetimeFigureOut">
              <a:rPr lang="en-ZA" smtClean="0"/>
              <a:t>19 Oct 2026</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09103FB4-0C10-4E2C-BA31-83FCBF4FB638}" type="slidenum">
              <a:rPr lang="en-ZA" smtClean="0"/>
              <a:t>‹#›</a:t>
            </a:fld>
            <a:endParaRPr lang="en-ZA"/>
          </a:p>
        </p:txBody>
      </p:sp>
    </p:spTree>
    <p:extLst>
      <p:ext uri="{BB962C8B-B14F-4D97-AF65-F5344CB8AC3E}">
        <p14:creationId xmlns:p14="http://schemas.microsoft.com/office/powerpoint/2010/main" val="382196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8508DA-1D88-4EFE-8D34-BDD707923C50}" type="datetimeFigureOut">
              <a:rPr lang="en-ZA" smtClean="0"/>
              <a:t>19 Oct 2026</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09103FB4-0C10-4E2C-BA31-83FCBF4FB638}" type="slidenum">
              <a:rPr lang="en-ZA" smtClean="0"/>
              <a:t>‹#›</a:t>
            </a:fld>
            <a:endParaRPr lang="en-ZA"/>
          </a:p>
        </p:txBody>
      </p:sp>
    </p:spTree>
    <p:extLst>
      <p:ext uri="{BB962C8B-B14F-4D97-AF65-F5344CB8AC3E}">
        <p14:creationId xmlns:p14="http://schemas.microsoft.com/office/powerpoint/2010/main" val="342372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8508DA-1D88-4EFE-8D34-BDD707923C50}" type="datetimeFigureOut">
              <a:rPr lang="en-ZA" smtClean="0"/>
              <a:t>19 Oct 2026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09103FB4-0C10-4E2C-BA31-83FCBF4FB638}" type="slidenum">
              <a:rPr lang="en-ZA" smtClean="0"/>
              <a:t>‹#›</a:t>
            </a:fld>
            <a:endParaRPr lang="en-ZA"/>
          </a:p>
        </p:txBody>
      </p:sp>
    </p:spTree>
    <p:extLst>
      <p:ext uri="{BB962C8B-B14F-4D97-AF65-F5344CB8AC3E}">
        <p14:creationId xmlns:p14="http://schemas.microsoft.com/office/powerpoint/2010/main" val="1094729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458508DA-1D88-4EFE-8D34-BDD707923C50}" type="datetimeFigureOut">
              <a:rPr lang="en-ZA" smtClean="0"/>
              <a:t>19 Oct 2026</a:t>
            </a:fld>
            <a:endParaRPr lang="en-ZA"/>
          </a:p>
        </p:txBody>
      </p:sp>
      <p:sp>
        <p:nvSpPr>
          <p:cNvPr id="6" name="Footer Placeholder 5"/>
          <p:cNvSpPr>
            <a:spLocks noGrp="1"/>
          </p:cNvSpPr>
          <p:nvPr>
            <p:ph type="ftr" sz="quarter" idx="11"/>
          </p:nvPr>
        </p:nvSpPr>
        <p:spPr>
          <a:xfrm>
            <a:off x="1141412" y="5883275"/>
            <a:ext cx="5105400" cy="365125"/>
          </a:xfrm>
        </p:spPr>
        <p:txBody>
          <a:bodyPr/>
          <a:lstStyle/>
          <a:p>
            <a:endParaRPr lang="en-ZA"/>
          </a:p>
        </p:txBody>
      </p:sp>
      <p:sp>
        <p:nvSpPr>
          <p:cNvPr id="7" name="Slide Number Placeholder 6"/>
          <p:cNvSpPr>
            <a:spLocks noGrp="1"/>
          </p:cNvSpPr>
          <p:nvPr>
            <p:ph type="sldNum" sz="quarter" idx="12"/>
          </p:nvPr>
        </p:nvSpPr>
        <p:spPr>
          <a:xfrm>
            <a:off x="10742612" y="5883275"/>
            <a:ext cx="322567" cy="365125"/>
          </a:xfrm>
        </p:spPr>
        <p:txBody>
          <a:bodyPr/>
          <a:lstStyle/>
          <a:p>
            <a:fld id="{09103FB4-0C10-4E2C-BA31-83FCBF4FB638}" type="slidenum">
              <a:rPr lang="en-ZA" smtClean="0"/>
              <a:t>‹#›</a:t>
            </a:fld>
            <a:endParaRPr lang="en-ZA"/>
          </a:p>
        </p:txBody>
      </p:sp>
    </p:spTree>
    <p:extLst>
      <p:ext uri="{BB962C8B-B14F-4D97-AF65-F5344CB8AC3E}">
        <p14:creationId xmlns:p14="http://schemas.microsoft.com/office/powerpoint/2010/main" val="2149816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8508DA-1D88-4EFE-8D34-BDD707923C50}" type="datetimeFigureOut">
              <a:rPr lang="en-ZA" smtClean="0"/>
              <a:t>19 Oct 2026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09103FB4-0C10-4E2C-BA31-83FCBF4FB638}" type="slidenum">
              <a:rPr lang="en-ZA" smtClean="0"/>
              <a:t>‹#›</a:t>
            </a:fld>
            <a:endParaRPr lang="en-ZA"/>
          </a:p>
        </p:txBody>
      </p:sp>
    </p:spTree>
    <p:extLst>
      <p:ext uri="{BB962C8B-B14F-4D97-AF65-F5344CB8AC3E}">
        <p14:creationId xmlns:p14="http://schemas.microsoft.com/office/powerpoint/2010/main" val="3041340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8508DA-1D88-4EFE-8D34-BDD707923C50}" type="datetimeFigureOut">
              <a:rPr lang="en-ZA" smtClean="0"/>
              <a:t>19 Oct 2026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9103FB4-0C10-4E2C-BA31-83FCBF4FB638}" type="slidenum">
              <a:rPr lang="en-ZA" smtClean="0"/>
              <a:t>‹#›</a:t>
            </a:fld>
            <a:endParaRPr lang="en-ZA"/>
          </a:p>
        </p:txBody>
      </p:sp>
    </p:spTree>
    <p:extLst>
      <p:ext uri="{BB962C8B-B14F-4D97-AF65-F5344CB8AC3E}">
        <p14:creationId xmlns:p14="http://schemas.microsoft.com/office/powerpoint/2010/main" val="6864772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458508DA-1D88-4EFE-8D34-BDD707923C50}" type="datetimeFigureOut">
              <a:rPr lang="en-ZA" smtClean="0"/>
              <a:t>19 Oct 2026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9103FB4-0C10-4E2C-BA31-83FCBF4FB638}" type="slidenum">
              <a:rPr lang="en-ZA" smtClean="0"/>
              <a:t>‹#›</a:t>
            </a:fld>
            <a:endParaRPr lang="en-ZA"/>
          </a:p>
        </p:txBody>
      </p:sp>
    </p:spTree>
    <p:extLst>
      <p:ext uri="{BB962C8B-B14F-4D97-AF65-F5344CB8AC3E}">
        <p14:creationId xmlns:p14="http://schemas.microsoft.com/office/powerpoint/2010/main" val="12953140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458508DA-1D88-4EFE-8D34-BDD707923C50}" type="datetimeFigureOut">
              <a:rPr lang="en-ZA" smtClean="0"/>
              <a:t>19 Oct 2026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9103FB4-0C10-4E2C-BA31-83FCBF4FB638}" type="slidenum">
              <a:rPr lang="en-ZA" smtClean="0"/>
              <a:t>‹#›</a:t>
            </a:fld>
            <a:endParaRPr lang="en-ZA"/>
          </a:p>
        </p:txBody>
      </p:sp>
    </p:spTree>
    <p:extLst>
      <p:ext uri="{BB962C8B-B14F-4D97-AF65-F5344CB8AC3E}">
        <p14:creationId xmlns:p14="http://schemas.microsoft.com/office/powerpoint/2010/main" val="8662232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8508DA-1D88-4EFE-8D34-BDD707923C50}" type="datetimeFigureOut">
              <a:rPr lang="en-ZA" smtClean="0"/>
              <a:t>19 Oct 2026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9103FB4-0C10-4E2C-BA31-83FCBF4FB638}" type="slidenum">
              <a:rPr lang="en-ZA" smtClean="0"/>
              <a:t>‹#›</a:t>
            </a:fld>
            <a:endParaRPr lang="en-ZA"/>
          </a:p>
        </p:txBody>
      </p:sp>
    </p:spTree>
    <p:extLst>
      <p:ext uri="{BB962C8B-B14F-4D97-AF65-F5344CB8AC3E}">
        <p14:creationId xmlns:p14="http://schemas.microsoft.com/office/powerpoint/2010/main" val="13186983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8508DA-1D88-4EFE-8D34-BDD707923C50}" type="datetimeFigureOut">
              <a:rPr lang="en-ZA" smtClean="0"/>
              <a:t>19 Oct 2026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9103FB4-0C10-4E2C-BA31-83FCBF4FB638}" type="slidenum">
              <a:rPr lang="en-ZA" smtClean="0"/>
              <a:t>‹#›</a:t>
            </a:fld>
            <a:endParaRPr lang="en-ZA"/>
          </a:p>
        </p:txBody>
      </p:sp>
    </p:spTree>
    <p:extLst>
      <p:ext uri="{BB962C8B-B14F-4D97-AF65-F5344CB8AC3E}">
        <p14:creationId xmlns:p14="http://schemas.microsoft.com/office/powerpoint/2010/main" val="39109827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8508DA-1D88-4EFE-8D34-BDD707923C50}" type="datetimeFigureOut">
              <a:rPr lang="en-ZA" smtClean="0"/>
              <a:t>19 Oct 2026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9103FB4-0C10-4E2C-BA31-83FCBF4FB638}" type="slidenum">
              <a:rPr lang="en-ZA" smtClean="0"/>
              <a:t>‹#›</a:t>
            </a:fld>
            <a:endParaRPr lang="en-ZA"/>
          </a:p>
        </p:txBody>
      </p:sp>
    </p:spTree>
    <p:extLst>
      <p:ext uri="{BB962C8B-B14F-4D97-AF65-F5344CB8AC3E}">
        <p14:creationId xmlns:p14="http://schemas.microsoft.com/office/powerpoint/2010/main" val="28078515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8508DA-1D88-4EFE-8D34-BDD707923C50}" type="datetimeFigureOut">
              <a:rPr lang="en-ZA" smtClean="0"/>
              <a:t>19 Oct 2026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9103FB4-0C10-4E2C-BA31-83FCBF4FB638}" type="slidenum">
              <a:rPr lang="en-ZA" smtClean="0"/>
              <a:t>‹#›</a:t>
            </a:fld>
            <a:endParaRPr lang="en-ZA"/>
          </a:p>
        </p:txBody>
      </p:sp>
    </p:spTree>
    <p:extLst>
      <p:ext uri="{BB962C8B-B14F-4D97-AF65-F5344CB8AC3E}">
        <p14:creationId xmlns:p14="http://schemas.microsoft.com/office/powerpoint/2010/main" val="4166812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458508DA-1D88-4EFE-8D34-BDD707923C50}" type="datetimeFigureOut">
              <a:rPr lang="en-ZA" smtClean="0"/>
              <a:t>19 Oct 2026</a:t>
            </a:fld>
            <a:endParaRPr lang="en-ZA"/>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ZA"/>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09103FB4-0C10-4E2C-BA31-83FCBF4FB638}" type="slidenum">
              <a:rPr lang="en-ZA" smtClean="0"/>
              <a:t>‹#›</a:t>
            </a:fld>
            <a:endParaRPr lang="en-ZA"/>
          </a:p>
        </p:txBody>
      </p:sp>
    </p:spTree>
    <p:extLst>
      <p:ext uri="{BB962C8B-B14F-4D97-AF65-F5344CB8AC3E}">
        <p14:creationId xmlns:p14="http://schemas.microsoft.com/office/powerpoint/2010/main" val="336573728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7.jpg"/><Relationship Id="rId4"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0BB4934-EA1F-82CA-E9C5-FAFF9DDB34D9}"/>
              </a:ext>
            </a:extLst>
          </p:cNvPr>
          <p:cNvSpPr>
            <a:spLocks noGrp="1"/>
          </p:cNvSpPr>
          <p:nvPr>
            <p:ph type="title"/>
          </p:nvPr>
        </p:nvSpPr>
        <p:spPr>
          <a:xfrm>
            <a:off x="1141413" y="609600"/>
            <a:ext cx="9905998" cy="666750"/>
          </a:xfrm>
        </p:spPr>
        <p:txBody>
          <a:bodyPr>
            <a:normAutofit/>
          </a:bodyPr>
          <a:lstStyle/>
          <a:p>
            <a:r>
              <a:rPr lang="en-ZA" dirty="0"/>
              <a:t>Bin 381 Milestone 4 Group 1</a:t>
            </a:r>
          </a:p>
        </p:txBody>
      </p:sp>
      <p:sp>
        <p:nvSpPr>
          <p:cNvPr id="8" name="TextBox 7">
            <a:extLst>
              <a:ext uri="{FF2B5EF4-FFF2-40B4-BE49-F238E27FC236}">
                <a16:creationId xmlns:a16="http://schemas.microsoft.com/office/drawing/2014/main" id="{04C0A0DE-9A5B-885A-BAEE-C6DDCD0C63AF}"/>
              </a:ext>
            </a:extLst>
          </p:cNvPr>
          <p:cNvSpPr txBox="1"/>
          <p:nvPr/>
        </p:nvSpPr>
        <p:spPr>
          <a:xfrm>
            <a:off x="1141413" y="1627094"/>
            <a:ext cx="9905998" cy="2246769"/>
          </a:xfrm>
          <a:prstGeom prst="rect">
            <a:avLst/>
          </a:prstGeom>
          <a:noFill/>
        </p:spPr>
        <p:txBody>
          <a:bodyPr wrap="square" rtlCol="0">
            <a:spAutoFit/>
          </a:bodyPr>
          <a:lstStyle/>
          <a:p>
            <a:r>
              <a:rPr lang="en-ZA" sz="3600" dirty="0"/>
              <a:t>Which household should food-security teams visit first?</a:t>
            </a:r>
          </a:p>
          <a:p>
            <a:endParaRPr lang="en-ZA" sz="2800" dirty="0"/>
          </a:p>
          <a:p>
            <a:r>
              <a:rPr lang="en-ZA" sz="2000" dirty="0">
                <a:latin typeface="Aptos" panose="020B0004020202020204" pitchFamily="34" charset="0"/>
              </a:rPr>
              <a:t>A screening aid built from the General Household Survey 2024, for decision-makers with limited budgets.</a:t>
            </a:r>
          </a:p>
        </p:txBody>
      </p:sp>
      <p:sp>
        <p:nvSpPr>
          <p:cNvPr id="9" name="TextBox 8">
            <a:extLst>
              <a:ext uri="{FF2B5EF4-FFF2-40B4-BE49-F238E27FC236}">
                <a16:creationId xmlns:a16="http://schemas.microsoft.com/office/drawing/2014/main" id="{7714C2C6-7492-7263-B764-5B68B84D549A}"/>
              </a:ext>
            </a:extLst>
          </p:cNvPr>
          <p:cNvSpPr txBox="1"/>
          <p:nvPr/>
        </p:nvSpPr>
        <p:spPr>
          <a:xfrm>
            <a:off x="1141413" y="4430687"/>
            <a:ext cx="1746250" cy="800219"/>
          </a:xfrm>
          <a:prstGeom prst="rect">
            <a:avLst/>
          </a:prstGeom>
          <a:noFill/>
        </p:spPr>
        <p:txBody>
          <a:bodyPr wrap="square" rtlCol="0">
            <a:spAutoFit/>
          </a:bodyPr>
          <a:lstStyle/>
          <a:p>
            <a:r>
              <a:rPr lang="en-ZA" sz="3600" dirty="0">
                <a:latin typeface="Aptos" panose="020B0004020202020204" pitchFamily="34" charset="0"/>
              </a:rPr>
              <a:t>20,940</a:t>
            </a:r>
          </a:p>
          <a:p>
            <a:r>
              <a:rPr lang="en-ZA" sz="1000" dirty="0">
                <a:latin typeface="Aptos" panose="020B0004020202020204" pitchFamily="34" charset="0"/>
              </a:rPr>
              <a:t>Households in the survey</a:t>
            </a:r>
          </a:p>
        </p:txBody>
      </p:sp>
      <p:sp>
        <p:nvSpPr>
          <p:cNvPr id="10" name="TextBox 9">
            <a:extLst>
              <a:ext uri="{FF2B5EF4-FFF2-40B4-BE49-F238E27FC236}">
                <a16:creationId xmlns:a16="http://schemas.microsoft.com/office/drawing/2014/main" id="{9972C68A-4B96-FF22-F632-6450812855CF}"/>
              </a:ext>
            </a:extLst>
          </p:cNvPr>
          <p:cNvSpPr txBox="1"/>
          <p:nvPr/>
        </p:nvSpPr>
        <p:spPr>
          <a:xfrm>
            <a:off x="3028950" y="4430686"/>
            <a:ext cx="1746250" cy="800219"/>
          </a:xfrm>
          <a:prstGeom prst="rect">
            <a:avLst/>
          </a:prstGeom>
          <a:noFill/>
        </p:spPr>
        <p:txBody>
          <a:bodyPr wrap="square" rtlCol="0">
            <a:spAutoFit/>
          </a:bodyPr>
          <a:lstStyle/>
          <a:p>
            <a:r>
              <a:rPr lang="en-ZA" sz="3600" dirty="0">
                <a:latin typeface="Aptos" panose="020B0004020202020204" pitchFamily="34" charset="0"/>
              </a:rPr>
              <a:t>30.6%</a:t>
            </a:r>
          </a:p>
          <a:p>
            <a:r>
              <a:rPr lang="en-ZA" sz="1000" dirty="0">
                <a:latin typeface="Aptos" panose="020B0004020202020204" pitchFamily="34" charset="0"/>
              </a:rPr>
              <a:t>At risk of food insecurity</a:t>
            </a:r>
          </a:p>
        </p:txBody>
      </p:sp>
      <p:sp>
        <p:nvSpPr>
          <p:cNvPr id="11" name="TextBox 10">
            <a:extLst>
              <a:ext uri="{FF2B5EF4-FFF2-40B4-BE49-F238E27FC236}">
                <a16:creationId xmlns:a16="http://schemas.microsoft.com/office/drawing/2014/main" id="{6E5899DC-1212-4281-CDE3-399F959EB3E4}"/>
              </a:ext>
            </a:extLst>
          </p:cNvPr>
          <p:cNvSpPr txBox="1"/>
          <p:nvPr/>
        </p:nvSpPr>
        <p:spPr>
          <a:xfrm>
            <a:off x="4916487" y="4430686"/>
            <a:ext cx="2208213" cy="800219"/>
          </a:xfrm>
          <a:prstGeom prst="rect">
            <a:avLst/>
          </a:prstGeom>
          <a:noFill/>
        </p:spPr>
        <p:txBody>
          <a:bodyPr wrap="square" rtlCol="0">
            <a:spAutoFit/>
          </a:bodyPr>
          <a:lstStyle/>
          <a:p>
            <a:r>
              <a:rPr lang="en-ZA" sz="3600" dirty="0">
                <a:latin typeface="Aptos" panose="020B0004020202020204" pitchFamily="34" charset="0"/>
              </a:rPr>
              <a:t>A screen</a:t>
            </a:r>
          </a:p>
          <a:p>
            <a:r>
              <a:rPr lang="en-ZA" sz="1000" dirty="0">
                <a:latin typeface="Aptos" panose="020B0004020202020204" pitchFamily="34" charset="0"/>
              </a:rPr>
              <a:t>Not an eligibility test</a:t>
            </a:r>
          </a:p>
        </p:txBody>
      </p:sp>
      <p:sp>
        <p:nvSpPr>
          <p:cNvPr id="12" name="TextBox 11">
            <a:extLst>
              <a:ext uri="{FF2B5EF4-FFF2-40B4-BE49-F238E27FC236}">
                <a16:creationId xmlns:a16="http://schemas.microsoft.com/office/drawing/2014/main" id="{5F1637ED-D4E7-0E36-7C47-31024FE9134B}"/>
              </a:ext>
            </a:extLst>
          </p:cNvPr>
          <p:cNvSpPr txBox="1"/>
          <p:nvPr/>
        </p:nvSpPr>
        <p:spPr>
          <a:xfrm>
            <a:off x="1141413" y="5787728"/>
            <a:ext cx="6540500" cy="246221"/>
          </a:xfrm>
          <a:prstGeom prst="rect">
            <a:avLst/>
          </a:prstGeom>
          <a:noFill/>
        </p:spPr>
        <p:txBody>
          <a:bodyPr wrap="square" rtlCol="0">
            <a:spAutoFit/>
          </a:bodyPr>
          <a:lstStyle/>
          <a:p>
            <a:r>
              <a:rPr lang="en-ZA" sz="1000" dirty="0">
                <a:latin typeface="Aptos" panose="020B0004020202020204" pitchFamily="34" charset="0"/>
              </a:rPr>
              <a:t>Alexander Solomon ● Rudi Jan du Plessis ● Timothy </a:t>
            </a:r>
            <a:r>
              <a:rPr lang="en-ZA" sz="1000" dirty="0" err="1">
                <a:latin typeface="Aptos" panose="020B0004020202020204" pitchFamily="34" charset="0"/>
              </a:rPr>
              <a:t>Wubbeling</a:t>
            </a:r>
            <a:endParaRPr lang="en-ZA" sz="1000" dirty="0">
              <a:latin typeface="Aptos" panose="020B0004020202020204" pitchFamily="34" charset="0"/>
            </a:endParaRPr>
          </a:p>
        </p:txBody>
      </p:sp>
    </p:spTree>
    <p:extLst>
      <p:ext uri="{BB962C8B-B14F-4D97-AF65-F5344CB8AC3E}">
        <p14:creationId xmlns:p14="http://schemas.microsoft.com/office/powerpoint/2010/main" val="491288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62907E-D7DF-3BA8-D941-EF8219BC19F8}"/>
              </a:ext>
            </a:extLst>
          </p:cNvPr>
          <p:cNvSpPr>
            <a:spLocks noGrp="1"/>
          </p:cNvSpPr>
          <p:nvPr>
            <p:ph type="title"/>
          </p:nvPr>
        </p:nvSpPr>
        <p:spPr>
          <a:xfrm>
            <a:off x="1141413" y="609600"/>
            <a:ext cx="9905998" cy="444500"/>
          </a:xfrm>
        </p:spPr>
        <p:txBody>
          <a:bodyPr>
            <a:noAutofit/>
          </a:bodyPr>
          <a:lstStyle/>
          <a:p>
            <a:r>
              <a:rPr lang="en-ZA" dirty="0"/>
              <a:t>Goal and Approach</a:t>
            </a:r>
          </a:p>
        </p:txBody>
      </p:sp>
      <p:sp>
        <p:nvSpPr>
          <p:cNvPr id="4" name="TextBox 3">
            <a:extLst>
              <a:ext uri="{FF2B5EF4-FFF2-40B4-BE49-F238E27FC236}">
                <a16:creationId xmlns:a16="http://schemas.microsoft.com/office/drawing/2014/main" id="{01EF07A2-6116-D802-106F-48254DA98932}"/>
              </a:ext>
            </a:extLst>
          </p:cNvPr>
          <p:cNvSpPr txBox="1"/>
          <p:nvPr/>
        </p:nvSpPr>
        <p:spPr>
          <a:xfrm>
            <a:off x="1141413" y="1257300"/>
            <a:ext cx="7245350" cy="461665"/>
          </a:xfrm>
          <a:prstGeom prst="rect">
            <a:avLst/>
          </a:prstGeom>
          <a:noFill/>
        </p:spPr>
        <p:txBody>
          <a:bodyPr wrap="square" rtlCol="0">
            <a:spAutoFit/>
          </a:bodyPr>
          <a:lstStyle/>
          <a:p>
            <a:r>
              <a:rPr lang="en-ZA" sz="2400" dirty="0">
                <a:latin typeface="Aptos" panose="020B0004020202020204" pitchFamily="34" charset="0"/>
              </a:rPr>
              <a:t>Three goals, six phases, three changes of mind</a:t>
            </a:r>
          </a:p>
        </p:txBody>
      </p:sp>
      <p:sp>
        <p:nvSpPr>
          <p:cNvPr id="5" name="TextBox 4">
            <a:extLst>
              <a:ext uri="{FF2B5EF4-FFF2-40B4-BE49-F238E27FC236}">
                <a16:creationId xmlns:a16="http://schemas.microsoft.com/office/drawing/2014/main" id="{12FCCC44-0FC1-C494-3CBB-7AC7E0AEA0AC}"/>
              </a:ext>
            </a:extLst>
          </p:cNvPr>
          <p:cNvSpPr txBox="1"/>
          <p:nvPr/>
        </p:nvSpPr>
        <p:spPr>
          <a:xfrm>
            <a:off x="1212850" y="1943100"/>
            <a:ext cx="2654300" cy="861774"/>
          </a:xfrm>
          <a:prstGeom prst="rect">
            <a:avLst/>
          </a:prstGeom>
          <a:solidFill>
            <a:schemeClr val="bg1">
              <a:lumMod val="65000"/>
              <a:lumOff val="35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ZA" b="1" u="sng" dirty="0">
                <a:effectLst>
                  <a:outerShdw blurRad="38100" dist="38100" dir="2700000" algn="tl">
                    <a:srgbClr val="000000">
                      <a:alpha val="43137"/>
                    </a:srgbClr>
                  </a:outerShdw>
                </a:effectLst>
                <a:latin typeface="Aptos" panose="020B0004020202020204" pitchFamily="34" charset="0"/>
              </a:rPr>
              <a:t>Indicators</a:t>
            </a:r>
          </a:p>
          <a:p>
            <a:r>
              <a:rPr lang="en-ZA" sz="1600" dirty="0">
                <a:latin typeface="Aptos" panose="020B0004020202020204" pitchFamily="34" charset="0"/>
              </a:rPr>
              <a:t>Where food insecurity sits and who is affected</a:t>
            </a:r>
          </a:p>
        </p:txBody>
      </p:sp>
      <p:sp>
        <p:nvSpPr>
          <p:cNvPr id="7" name="TextBox 6">
            <a:extLst>
              <a:ext uri="{FF2B5EF4-FFF2-40B4-BE49-F238E27FC236}">
                <a16:creationId xmlns:a16="http://schemas.microsoft.com/office/drawing/2014/main" id="{11EB785D-0E5E-DF08-A8CF-EE23E7D48DC6}"/>
              </a:ext>
            </a:extLst>
          </p:cNvPr>
          <p:cNvSpPr txBox="1"/>
          <p:nvPr/>
        </p:nvSpPr>
        <p:spPr>
          <a:xfrm>
            <a:off x="1212850" y="2998113"/>
            <a:ext cx="2654300" cy="861774"/>
          </a:xfrm>
          <a:prstGeom prst="rect">
            <a:avLst/>
          </a:prstGeom>
          <a:solidFill>
            <a:schemeClr val="bg1">
              <a:lumMod val="65000"/>
              <a:lumOff val="35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ZA" b="1" u="sng" dirty="0">
                <a:effectLst>
                  <a:outerShdw blurRad="38100" dist="38100" dir="2700000" algn="tl">
                    <a:srgbClr val="000000">
                      <a:alpha val="43137"/>
                    </a:srgbClr>
                  </a:outerShdw>
                </a:effectLst>
                <a:latin typeface="Aptos" panose="020B0004020202020204" pitchFamily="34" charset="0"/>
              </a:rPr>
              <a:t>Classification model</a:t>
            </a:r>
          </a:p>
          <a:p>
            <a:r>
              <a:rPr lang="en-ZA" sz="1600" dirty="0">
                <a:latin typeface="Aptos" panose="020B0004020202020204" pitchFamily="34" charset="0"/>
              </a:rPr>
              <a:t>Flag households that are likely to be at risk</a:t>
            </a:r>
          </a:p>
        </p:txBody>
      </p:sp>
      <p:sp>
        <p:nvSpPr>
          <p:cNvPr id="9" name="TextBox 8">
            <a:extLst>
              <a:ext uri="{FF2B5EF4-FFF2-40B4-BE49-F238E27FC236}">
                <a16:creationId xmlns:a16="http://schemas.microsoft.com/office/drawing/2014/main" id="{829DE58F-75DD-F34F-8ED5-A9FE0D865760}"/>
              </a:ext>
            </a:extLst>
          </p:cNvPr>
          <p:cNvSpPr txBox="1"/>
          <p:nvPr/>
        </p:nvSpPr>
        <p:spPr>
          <a:xfrm>
            <a:off x="1212850" y="4053126"/>
            <a:ext cx="2654300" cy="861774"/>
          </a:xfrm>
          <a:prstGeom prst="rect">
            <a:avLst/>
          </a:prstGeom>
          <a:solidFill>
            <a:schemeClr val="bg1">
              <a:lumMod val="65000"/>
              <a:lumOff val="35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ZA" b="1" u="sng" dirty="0">
                <a:effectLst>
                  <a:outerShdw blurRad="38100" dist="38100" dir="2700000" algn="tl">
                    <a:srgbClr val="000000">
                      <a:alpha val="43137"/>
                    </a:srgbClr>
                  </a:outerShdw>
                </a:effectLst>
                <a:latin typeface="Aptos" panose="020B0004020202020204" pitchFamily="34" charset="0"/>
              </a:rPr>
              <a:t>Decision dashboard</a:t>
            </a:r>
          </a:p>
          <a:p>
            <a:r>
              <a:rPr lang="en-ZA" sz="1600" dirty="0">
                <a:latin typeface="Aptos" panose="020B0004020202020204" pitchFamily="34" charset="0"/>
              </a:rPr>
              <a:t>Where food insecurity sits and who is affected</a:t>
            </a:r>
          </a:p>
        </p:txBody>
      </p:sp>
      <p:pic>
        <p:nvPicPr>
          <p:cNvPr id="11" name="Picture 10">
            <a:extLst>
              <a:ext uri="{FF2B5EF4-FFF2-40B4-BE49-F238E27FC236}">
                <a16:creationId xmlns:a16="http://schemas.microsoft.com/office/drawing/2014/main" id="{DD045EB6-B942-9EA5-8411-4738CB636F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4088" y="1905684"/>
            <a:ext cx="5647059" cy="3046632"/>
          </a:xfrm>
          <a:prstGeom prst="rect">
            <a:avLst/>
          </a:prstGeom>
        </p:spPr>
      </p:pic>
      <p:sp>
        <p:nvSpPr>
          <p:cNvPr id="15" name="TextBox 14">
            <a:extLst>
              <a:ext uri="{FF2B5EF4-FFF2-40B4-BE49-F238E27FC236}">
                <a16:creationId xmlns:a16="http://schemas.microsoft.com/office/drawing/2014/main" id="{DB2827B0-13AC-57F2-B057-C334B122F2BC}"/>
              </a:ext>
            </a:extLst>
          </p:cNvPr>
          <p:cNvSpPr txBox="1"/>
          <p:nvPr/>
        </p:nvSpPr>
        <p:spPr>
          <a:xfrm>
            <a:off x="1212850" y="6002179"/>
            <a:ext cx="6877050" cy="246221"/>
          </a:xfrm>
          <a:prstGeom prst="rect">
            <a:avLst/>
          </a:prstGeom>
          <a:noFill/>
        </p:spPr>
        <p:txBody>
          <a:bodyPr wrap="square">
            <a:spAutoFit/>
          </a:bodyPr>
          <a:lstStyle/>
          <a:p>
            <a:r>
              <a:rPr lang="en-ZA" sz="1000" dirty="0">
                <a:latin typeface="Aptos" panose="020B0004020202020204" pitchFamily="34" charset="0"/>
              </a:rPr>
              <a:t>Dashed arrows: the integration key repair, the duplicate-ID finding and the move to binary model all sent us back a phase.</a:t>
            </a:r>
          </a:p>
        </p:txBody>
      </p:sp>
    </p:spTree>
    <p:extLst>
      <p:ext uri="{BB962C8B-B14F-4D97-AF65-F5344CB8AC3E}">
        <p14:creationId xmlns:p14="http://schemas.microsoft.com/office/powerpoint/2010/main" val="2269413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E32E-349F-204C-A27D-356C6EDF91DA}"/>
              </a:ext>
            </a:extLst>
          </p:cNvPr>
          <p:cNvSpPr>
            <a:spLocks noGrp="1"/>
          </p:cNvSpPr>
          <p:nvPr>
            <p:ph type="title"/>
          </p:nvPr>
        </p:nvSpPr>
        <p:spPr>
          <a:xfrm>
            <a:off x="1141413" y="609600"/>
            <a:ext cx="9905998" cy="653308"/>
          </a:xfrm>
        </p:spPr>
        <p:txBody>
          <a:bodyPr/>
          <a:lstStyle/>
          <a:p>
            <a:r>
              <a:rPr lang="en-ZA" dirty="0"/>
              <a:t>Data Strategy</a:t>
            </a:r>
          </a:p>
        </p:txBody>
      </p:sp>
      <p:sp>
        <p:nvSpPr>
          <p:cNvPr id="3" name="TextBox 2">
            <a:extLst>
              <a:ext uri="{FF2B5EF4-FFF2-40B4-BE49-F238E27FC236}">
                <a16:creationId xmlns:a16="http://schemas.microsoft.com/office/drawing/2014/main" id="{92BCFF48-3F33-E6B7-6337-4337D115CD31}"/>
              </a:ext>
            </a:extLst>
          </p:cNvPr>
          <p:cNvSpPr txBox="1"/>
          <p:nvPr/>
        </p:nvSpPr>
        <p:spPr>
          <a:xfrm>
            <a:off x="1141413" y="1562100"/>
            <a:ext cx="7126287" cy="461665"/>
          </a:xfrm>
          <a:prstGeom prst="rect">
            <a:avLst/>
          </a:prstGeom>
          <a:noFill/>
        </p:spPr>
        <p:txBody>
          <a:bodyPr wrap="square" rtlCol="0">
            <a:spAutoFit/>
          </a:bodyPr>
          <a:lstStyle/>
          <a:p>
            <a:r>
              <a:rPr lang="en-ZA" sz="2400" dirty="0">
                <a:latin typeface="Aptos" panose="020B0004020202020204" pitchFamily="34" charset="0"/>
              </a:rPr>
              <a:t>Seven of eleven files, joined with no household lost</a:t>
            </a:r>
          </a:p>
        </p:txBody>
      </p:sp>
      <p:pic>
        <p:nvPicPr>
          <p:cNvPr id="5" name="Picture 4">
            <a:extLst>
              <a:ext uri="{FF2B5EF4-FFF2-40B4-BE49-F238E27FC236}">
                <a16:creationId xmlns:a16="http://schemas.microsoft.com/office/drawing/2014/main" id="{FBDA620F-2A16-62C7-DE98-14749C3780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4309" y="2131715"/>
            <a:ext cx="5680205" cy="2411023"/>
          </a:xfrm>
          <a:prstGeom prst="rect">
            <a:avLst/>
          </a:prstGeom>
        </p:spPr>
      </p:pic>
      <p:sp>
        <p:nvSpPr>
          <p:cNvPr id="6" name="TextBox 5">
            <a:extLst>
              <a:ext uri="{FF2B5EF4-FFF2-40B4-BE49-F238E27FC236}">
                <a16:creationId xmlns:a16="http://schemas.microsoft.com/office/drawing/2014/main" id="{5C2C44F7-D166-FB5F-7D0B-3458C77DA94B}"/>
              </a:ext>
            </a:extLst>
          </p:cNvPr>
          <p:cNvSpPr txBox="1"/>
          <p:nvPr/>
        </p:nvSpPr>
        <p:spPr>
          <a:xfrm>
            <a:off x="1141413" y="4834236"/>
            <a:ext cx="1455737" cy="807913"/>
          </a:xfrm>
          <a:prstGeom prst="rect">
            <a:avLst/>
          </a:prstGeom>
          <a:noFill/>
        </p:spPr>
        <p:txBody>
          <a:bodyPr wrap="square" rtlCol="0">
            <a:spAutoFit/>
          </a:bodyPr>
          <a:lstStyle/>
          <a:p>
            <a:r>
              <a:rPr lang="en-ZA" sz="3600" dirty="0">
                <a:latin typeface="Aptos" panose="020B0004020202020204" pitchFamily="34" charset="0"/>
              </a:rPr>
              <a:t>15</a:t>
            </a:r>
          </a:p>
          <a:p>
            <a:r>
              <a:rPr lang="en-ZA" sz="1000" dirty="0">
                <a:latin typeface="Aptos" panose="020B0004020202020204" pitchFamily="34" charset="0"/>
              </a:rPr>
              <a:t>broken keys repaired</a:t>
            </a:r>
          </a:p>
        </p:txBody>
      </p:sp>
      <p:sp>
        <p:nvSpPr>
          <p:cNvPr id="8" name="TextBox 7">
            <a:extLst>
              <a:ext uri="{FF2B5EF4-FFF2-40B4-BE49-F238E27FC236}">
                <a16:creationId xmlns:a16="http://schemas.microsoft.com/office/drawing/2014/main" id="{B9A568E5-722C-74CF-AC98-859FEBDA85B7}"/>
              </a:ext>
            </a:extLst>
          </p:cNvPr>
          <p:cNvSpPr txBox="1"/>
          <p:nvPr/>
        </p:nvSpPr>
        <p:spPr>
          <a:xfrm>
            <a:off x="4279898" y="4841930"/>
            <a:ext cx="3629026" cy="800219"/>
          </a:xfrm>
          <a:prstGeom prst="rect">
            <a:avLst/>
          </a:prstGeom>
          <a:noFill/>
        </p:spPr>
        <p:txBody>
          <a:bodyPr wrap="square" rtlCol="0">
            <a:spAutoFit/>
          </a:bodyPr>
          <a:lstStyle/>
          <a:p>
            <a:r>
              <a:rPr lang="en-ZA" sz="3600" dirty="0">
                <a:latin typeface="Aptos" panose="020B0004020202020204" pitchFamily="34" charset="0"/>
              </a:rPr>
              <a:t>20,940 -&gt; 20,925</a:t>
            </a:r>
          </a:p>
          <a:p>
            <a:r>
              <a:rPr lang="en-ZA" sz="1000" dirty="0">
                <a:latin typeface="Aptos" panose="020B0004020202020204" pitchFamily="34" charset="0"/>
              </a:rPr>
              <a:t>Integrated, then modelled</a:t>
            </a:r>
          </a:p>
        </p:txBody>
      </p:sp>
      <p:sp>
        <p:nvSpPr>
          <p:cNvPr id="10" name="TextBox 9">
            <a:extLst>
              <a:ext uri="{FF2B5EF4-FFF2-40B4-BE49-F238E27FC236}">
                <a16:creationId xmlns:a16="http://schemas.microsoft.com/office/drawing/2014/main" id="{2AF11DEB-8FB8-305B-DCBD-C845910BFE19}"/>
              </a:ext>
            </a:extLst>
          </p:cNvPr>
          <p:cNvSpPr txBox="1"/>
          <p:nvPr/>
        </p:nvSpPr>
        <p:spPr>
          <a:xfrm>
            <a:off x="8934514" y="4834235"/>
            <a:ext cx="1733486" cy="800219"/>
          </a:xfrm>
          <a:prstGeom prst="rect">
            <a:avLst/>
          </a:prstGeom>
          <a:noFill/>
        </p:spPr>
        <p:txBody>
          <a:bodyPr wrap="square" rtlCol="0">
            <a:spAutoFit/>
          </a:bodyPr>
          <a:lstStyle/>
          <a:p>
            <a:r>
              <a:rPr lang="en-ZA" sz="3600" dirty="0">
                <a:latin typeface="Aptos" panose="020B0004020202020204" pitchFamily="34" charset="0"/>
              </a:rPr>
              <a:t>16</a:t>
            </a:r>
          </a:p>
          <a:p>
            <a:r>
              <a:rPr lang="en-ZA" sz="1000" dirty="0">
                <a:latin typeface="Aptos" panose="020B0004020202020204" pitchFamily="34" charset="0"/>
              </a:rPr>
              <a:t>leakage columns excluded</a:t>
            </a:r>
          </a:p>
        </p:txBody>
      </p:sp>
      <p:sp>
        <p:nvSpPr>
          <p:cNvPr id="12" name="TextBox 11">
            <a:extLst>
              <a:ext uri="{FF2B5EF4-FFF2-40B4-BE49-F238E27FC236}">
                <a16:creationId xmlns:a16="http://schemas.microsoft.com/office/drawing/2014/main" id="{1B1756CB-70A7-1D40-035E-C9204C6C5E1B}"/>
              </a:ext>
            </a:extLst>
          </p:cNvPr>
          <p:cNvSpPr txBox="1"/>
          <p:nvPr/>
        </p:nvSpPr>
        <p:spPr>
          <a:xfrm>
            <a:off x="1141412" y="5848290"/>
            <a:ext cx="7126287" cy="246221"/>
          </a:xfrm>
          <a:prstGeom prst="rect">
            <a:avLst/>
          </a:prstGeom>
          <a:noFill/>
        </p:spPr>
        <p:txBody>
          <a:bodyPr wrap="square">
            <a:spAutoFit/>
          </a:bodyPr>
          <a:lstStyle/>
          <a:p>
            <a:r>
              <a:rPr lang="en-ZA" sz="1000" dirty="0">
                <a:latin typeface="Aptos" panose="020B0004020202020204" pitchFamily="34" charset="0"/>
              </a:rPr>
              <a:t>Person-level files D01-D03 and file D11 were left out, with reasons. Split: 14,646 train, 6,279 test.</a:t>
            </a:r>
          </a:p>
        </p:txBody>
      </p:sp>
    </p:spTree>
    <p:extLst>
      <p:ext uri="{BB962C8B-B14F-4D97-AF65-F5344CB8AC3E}">
        <p14:creationId xmlns:p14="http://schemas.microsoft.com/office/powerpoint/2010/main" val="467632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F4360-6490-5821-C767-8B253775AAC8}"/>
              </a:ext>
            </a:extLst>
          </p:cNvPr>
          <p:cNvSpPr>
            <a:spLocks noGrp="1"/>
          </p:cNvSpPr>
          <p:nvPr>
            <p:ph type="title"/>
          </p:nvPr>
        </p:nvSpPr>
        <p:spPr>
          <a:xfrm>
            <a:off x="1141413" y="609600"/>
            <a:ext cx="9905998" cy="660400"/>
          </a:xfrm>
        </p:spPr>
        <p:txBody>
          <a:bodyPr/>
          <a:lstStyle/>
          <a:p>
            <a:r>
              <a:rPr lang="en-ZA" dirty="0"/>
              <a:t>Modelling approach</a:t>
            </a:r>
          </a:p>
        </p:txBody>
      </p:sp>
      <p:sp>
        <p:nvSpPr>
          <p:cNvPr id="3" name="TextBox 2">
            <a:extLst>
              <a:ext uri="{FF2B5EF4-FFF2-40B4-BE49-F238E27FC236}">
                <a16:creationId xmlns:a16="http://schemas.microsoft.com/office/drawing/2014/main" id="{FE9297A4-1992-4484-5CC0-1890A6C615D8}"/>
              </a:ext>
            </a:extLst>
          </p:cNvPr>
          <p:cNvSpPr txBox="1"/>
          <p:nvPr/>
        </p:nvSpPr>
        <p:spPr>
          <a:xfrm>
            <a:off x="1141413" y="1466849"/>
            <a:ext cx="9828211" cy="461665"/>
          </a:xfrm>
          <a:prstGeom prst="rect">
            <a:avLst/>
          </a:prstGeom>
          <a:noFill/>
        </p:spPr>
        <p:txBody>
          <a:bodyPr wrap="square" rtlCol="0">
            <a:spAutoFit/>
          </a:bodyPr>
          <a:lstStyle/>
          <a:p>
            <a:r>
              <a:rPr lang="en-ZA" sz="2400" dirty="0">
                <a:latin typeface="Aptos" panose="020B0004020202020204" pitchFamily="34" charset="0"/>
              </a:rPr>
              <a:t>Three tiers failed on the middle tier, so we kept binary lasso</a:t>
            </a:r>
          </a:p>
        </p:txBody>
      </p:sp>
      <p:pic>
        <p:nvPicPr>
          <p:cNvPr id="5" name="Picture 4">
            <a:extLst>
              <a:ext uri="{FF2B5EF4-FFF2-40B4-BE49-F238E27FC236}">
                <a16:creationId xmlns:a16="http://schemas.microsoft.com/office/drawing/2014/main" id="{67D05D9D-CA62-45B2-25A8-3E73AC3624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1413" y="2125363"/>
            <a:ext cx="6194624" cy="2675237"/>
          </a:xfrm>
          <a:prstGeom prst="rect">
            <a:avLst/>
          </a:prstGeom>
        </p:spPr>
      </p:pic>
      <p:sp>
        <p:nvSpPr>
          <p:cNvPr id="6" name="TextBox 5">
            <a:extLst>
              <a:ext uri="{FF2B5EF4-FFF2-40B4-BE49-F238E27FC236}">
                <a16:creationId xmlns:a16="http://schemas.microsoft.com/office/drawing/2014/main" id="{0B20D662-6E1A-AFE4-9EDF-5CB8010C8DDE}"/>
              </a:ext>
            </a:extLst>
          </p:cNvPr>
          <p:cNvSpPr txBox="1"/>
          <p:nvPr/>
        </p:nvSpPr>
        <p:spPr>
          <a:xfrm>
            <a:off x="7956550" y="2125363"/>
            <a:ext cx="3575050" cy="3139321"/>
          </a:xfrm>
          <a:prstGeom prst="rect">
            <a:avLst/>
          </a:prstGeom>
          <a:noFill/>
        </p:spPr>
        <p:txBody>
          <a:bodyPr wrap="square" rtlCol="0">
            <a:spAutoFit/>
          </a:bodyPr>
          <a:lstStyle/>
          <a:p>
            <a:r>
              <a:rPr lang="en-ZA" sz="2400" b="1" u="sng" dirty="0">
                <a:effectLst>
                  <a:outerShdw blurRad="38100" dist="38100" dir="2700000" algn="tl">
                    <a:srgbClr val="000000">
                      <a:alpha val="43137"/>
                    </a:srgbClr>
                  </a:outerShdw>
                </a:effectLst>
                <a:latin typeface="Aptos" panose="020B0004020202020204" pitchFamily="34" charset="0"/>
              </a:rPr>
              <a:t>Fair testing</a:t>
            </a:r>
          </a:p>
          <a:p>
            <a:r>
              <a:rPr lang="en-ZA" dirty="0">
                <a:latin typeface="Aptos" panose="020B0004020202020204" pitchFamily="34" charset="0"/>
              </a:rPr>
              <a:t>Stratified 5-fold cross-validation, with no preprocessing outside the folds</a:t>
            </a:r>
          </a:p>
          <a:p>
            <a:r>
              <a:rPr lang="en-ZA" sz="2400" b="1" u="sng" dirty="0">
                <a:latin typeface="Aptos" panose="020B0004020202020204" pitchFamily="34" charset="0"/>
              </a:rPr>
              <a:t>The middle tier falls</a:t>
            </a:r>
          </a:p>
          <a:p>
            <a:r>
              <a:rPr lang="en-ZA" dirty="0">
                <a:latin typeface="Aptos" panose="020B0004020202020204" pitchFamily="34" charset="0"/>
              </a:rPr>
              <a:t>No three-tier model recalls more than 3.2% of those households</a:t>
            </a:r>
          </a:p>
          <a:p>
            <a:r>
              <a:rPr lang="en-ZA" sz="2400" b="1" u="sng" dirty="0">
                <a:effectLst>
                  <a:outerShdw blurRad="38100" dist="38100" dir="2700000" algn="tl">
                    <a:srgbClr val="000000">
                      <a:alpha val="43137"/>
                    </a:srgbClr>
                  </a:outerShdw>
                </a:effectLst>
                <a:latin typeface="Aptos" panose="020B0004020202020204" pitchFamily="34" charset="0"/>
              </a:rPr>
              <a:t>Binary Lasso</a:t>
            </a:r>
          </a:p>
          <a:p>
            <a:r>
              <a:rPr lang="en-ZA" dirty="0">
                <a:effectLst>
                  <a:outerShdw blurRad="38100" dist="38100" dir="2700000" algn="tl">
                    <a:srgbClr val="000000">
                      <a:alpha val="43137"/>
                    </a:srgbClr>
                  </a:outerShdw>
                </a:effectLst>
                <a:latin typeface="Aptos" panose="020B0004020202020204" pitchFamily="34" charset="0"/>
              </a:rPr>
              <a:t>One odds ratio per factor, which fits the app.</a:t>
            </a:r>
            <a:endParaRPr lang="en-ZA" dirty="0">
              <a:latin typeface="Aptos" panose="020B0004020202020204" pitchFamily="34" charset="0"/>
            </a:endParaRPr>
          </a:p>
        </p:txBody>
      </p:sp>
      <p:sp>
        <p:nvSpPr>
          <p:cNvPr id="7" name="TextBox 6">
            <a:extLst>
              <a:ext uri="{FF2B5EF4-FFF2-40B4-BE49-F238E27FC236}">
                <a16:creationId xmlns:a16="http://schemas.microsoft.com/office/drawing/2014/main" id="{0F3B1B2A-8E7E-D69D-CCB1-A24D0C4A1ECE}"/>
              </a:ext>
            </a:extLst>
          </p:cNvPr>
          <p:cNvSpPr txBox="1"/>
          <p:nvPr/>
        </p:nvSpPr>
        <p:spPr>
          <a:xfrm>
            <a:off x="1141413" y="4914900"/>
            <a:ext cx="6194624" cy="400110"/>
          </a:xfrm>
          <a:prstGeom prst="rect">
            <a:avLst/>
          </a:prstGeom>
          <a:noFill/>
        </p:spPr>
        <p:txBody>
          <a:bodyPr wrap="square" rtlCol="0">
            <a:spAutoFit/>
          </a:bodyPr>
          <a:lstStyle/>
          <a:p>
            <a:r>
              <a:rPr lang="en-ZA" sz="1000" dirty="0"/>
              <a:t>Cross-validated ROC-AUC. The binary lasso answers a different question, so it is not a like-for-like comparison</a:t>
            </a:r>
          </a:p>
        </p:txBody>
      </p:sp>
      <p:sp>
        <p:nvSpPr>
          <p:cNvPr id="9" name="TextBox 8">
            <a:extLst>
              <a:ext uri="{FF2B5EF4-FFF2-40B4-BE49-F238E27FC236}">
                <a16:creationId xmlns:a16="http://schemas.microsoft.com/office/drawing/2014/main" id="{CACA6238-8B81-7B10-6122-1E33CB7F4BD8}"/>
              </a:ext>
            </a:extLst>
          </p:cNvPr>
          <p:cNvSpPr txBox="1"/>
          <p:nvPr/>
        </p:nvSpPr>
        <p:spPr>
          <a:xfrm>
            <a:off x="1141412" y="5848290"/>
            <a:ext cx="6815137" cy="246221"/>
          </a:xfrm>
          <a:prstGeom prst="rect">
            <a:avLst/>
          </a:prstGeom>
          <a:noFill/>
        </p:spPr>
        <p:txBody>
          <a:bodyPr wrap="square">
            <a:spAutoFit/>
          </a:bodyPr>
          <a:lstStyle/>
          <a:p>
            <a:r>
              <a:rPr lang="en-ZA" sz="1000" dirty="0">
                <a:latin typeface="Aptos" panose="020B0004020202020204" pitchFamily="34" charset="0"/>
              </a:rPr>
              <a:t>Class weights were tested and rejected because they damaged </a:t>
            </a:r>
            <a:r>
              <a:rPr lang="en-ZA" sz="1000">
                <a:latin typeface="Aptos" panose="020B0004020202020204" pitchFamily="34" charset="0"/>
              </a:rPr>
              <a:t>the probabilities.</a:t>
            </a:r>
            <a:endParaRPr lang="en-ZA" sz="1000" dirty="0">
              <a:latin typeface="Aptos" panose="020B0004020202020204" pitchFamily="34" charset="0"/>
            </a:endParaRPr>
          </a:p>
        </p:txBody>
      </p:sp>
    </p:spTree>
    <p:extLst>
      <p:ext uri="{BB962C8B-B14F-4D97-AF65-F5344CB8AC3E}">
        <p14:creationId xmlns:p14="http://schemas.microsoft.com/office/powerpoint/2010/main" val="556620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E32E-349F-204C-A27D-356C6EDF91DA}"/>
              </a:ext>
            </a:extLst>
          </p:cNvPr>
          <p:cNvSpPr>
            <a:spLocks noGrp="1"/>
          </p:cNvSpPr>
          <p:nvPr>
            <p:ph type="title"/>
          </p:nvPr>
        </p:nvSpPr>
        <p:spPr>
          <a:xfrm>
            <a:off x="1141413" y="609600"/>
            <a:ext cx="9905998" cy="653308"/>
          </a:xfrm>
        </p:spPr>
        <p:txBody>
          <a:bodyPr/>
          <a:lstStyle/>
          <a:p>
            <a:r>
              <a:rPr lang="en-ZA" dirty="0"/>
              <a:t>Model performance</a:t>
            </a:r>
          </a:p>
        </p:txBody>
      </p:sp>
      <p:sp>
        <p:nvSpPr>
          <p:cNvPr id="3" name="TextBox 2">
            <a:extLst>
              <a:ext uri="{FF2B5EF4-FFF2-40B4-BE49-F238E27FC236}">
                <a16:creationId xmlns:a16="http://schemas.microsoft.com/office/drawing/2014/main" id="{92BCFF48-3F33-E6B7-6337-4337D115CD31}"/>
              </a:ext>
            </a:extLst>
          </p:cNvPr>
          <p:cNvSpPr txBox="1"/>
          <p:nvPr/>
        </p:nvSpPr>
        <p:spPr>
          <a:xfrm>
            <a:off x="1141413" y="1562100"/>
            <a:ext cx="9906000" cy="461665"/>
          </a:xfrm>
          <a:prstGeom prst="rect">
            <a:avLst/>
          </a:prstGeom>
          <a:noFill/>
        </p:spPr>
        <p:txBody>
          <a:bodyPr wrap="square" rtlCol="0">
            <a:spAutoFit/>
          </a:bodyPr>
          <a:lstStyle/>
          <a:p>
            <a:r>
              <a:rPr lang="en-ZA" sz="2400" dirty="0">
                <a:latin typeface="Aptos" panose="020B0004020202020204" pitchFamily="34" charset="0"/>
              </a:rPr>
              <a:t>The screen finds 4 in 5 at-risk households, and refers 3 in 5</a:t>
            </a:r>
          </a:p>
        </p:txBody>
      </p:sp>
      <p:sp>
        <p:nvSpPr>
          <p:cNvPr id="6" name="TextBox 5">
            <a:extLst>
              <a:ext uri="{FF2B5EF4-FFF2-40B4-BE49-F238E27FC236}">
                <a16:creationId xmlns:a16="http://schemas.microsoft.com/office/drawing/2014/main" id="{5C2C44F7-D166-FB5F-7D0B-3458C77DA94B}"/>
              </a:ext>
            </a:extLst>
          </p:cNvPr>
          <p:cNvSpPr txBox="1"/>
          <p:nvPr/>
        </p:nvSpPr>
        <p:spPr>
          <a:xfrm>
            <a:off x="1143000" y="4927600"/>
            <a:ext cx="2349500" cy="800100"/>
          </a:xfrm>
          <a:prstGeom prst="rect">
            <a:avLst/>
          </a:prstGeom>
          <a:noFill/>
        </p:spPr>
        <p:txBody>
          <a:bodyPr wrap="square" rtlCol="0">
            <a:spAutoFit/>
          </a:bodyPr>
          <a:lstStyle/>
          <a:p>
            <a:r>
              <a:rPr lang="en-ZA" sz="3600" dirty="0">
                <a:latin typeface="Aptos" panose="020B0004020202020204" pitchFamily="34" charset="0"/>
              </a:rPr>
              <a:t>80.7%</a:t>
            </a:r>
          </a:p>
          <a:p>
            <a:r>
              <a:rPr lang="en-ZA" sz="1000" dirty="0">
                <a:latin typeface="Aptos" panose="020B0004020202020204" pitchFamily="34" charset="0"/>
              </a:rPr>
              <a:t>of at-risk households found</a:t>
            </a:r>
          </a:p>
        </p:txBody>
      </p:sp>
      <p:sp>
        <p:nvSpPr>
          <p:cNvPr id="8" name="TextBox 7">
            <a:extLst>
              <a:ext uri="{FF2B5EF4-FFF2-40B4-BE49-F238E27FC236}">
                <a16:creationId xmlns:a16="http://schemas.microsoft.com/office/drawing/2014/main" id="{B9A568E5-722C-74CF-AC98-859FEBDA85B7}"/>
              </a:ext>
            </a:extLst>
          </p:cNvPr>
          <p:cNvSpPr txBox="1"/>
          <p:nvPr/>
        </p:nvSpPr>
        <p:spPr>
          <a:xfrm>
            <a:off x="3619500" y="4927600"/>
            <a:ext cx="2349500" cy="800100"/>
          </a:xfrm>
          <a:prstGeom prst="rect">
            <a:avLst/>
          </a:prstGeom>
          <a:noFill/>
        </p:spPr>
        <p:txBody>
          <a:bodyPr wrap="square" rtlCol="0">
            <a:spAutoFit/>
          </a:bodyPr>
          <a:lstStyle/>
          <a:p>
            <a:r>
              <a:rPr lang="en-ZA" sz="3600" dirty="0">
                <a:latin typeface="Aptos" panose="020B0004020202020204" pitchFamily="34" charset="0"/>
              </a:rPr>
              <a:t>41.9%</a:t>
            </a:r>
          </a:p>
          <a:p>
            <a:r>
              <a:rPr lang="en-ZA" sz="1000" dirty="0">
                <a:latin typeface="Aptos" panose="020B0004020202020204" pitchFamily="34" charset="0"/>
              </a:rPr>
              <a:t>of referrals genuinely at risk</a:t>
            </a:r>
          </a:p>
        </p:txBody>
      </p:sp>
      <p:sp>
        <p:nvSpPr>
          <p:cNvPr id="10" name="TextBox 9">
            <a:extLst>
              <a:ext uri="{FF2B5EF4-FFF2-40B4-BE49-F238E27FC236}">
                <a16:creationId xmlns:a16="http://schemas.microsoft.com/office/drawing/2014/main" id="{2AF11DEB-8FB8-305B-DCBD-C845910BFE19}"/>
              </a:ext>
            </a:extLst>
          </p:cNvPr>
          <p:cNvSpPr txBox="1"/>
          <p:nvPr/>
        </p:nvSpPr>
        <p:spPr>
          <a:xfrm>
            <a:off x="6096000" y="4927600"/>
            <a:ext cx="2349500" cy="800100"/>
          </a:xfrm>
          <a:prstGeom prst="rect">
            <a:avLst/>
          </a:prstGeom>
          <a:noFill/>
        </p:spPr>
        <p:txBody>
          <a:bodyPr wrap="square" rtlCol="0">
            <a:spAutoFit/>
          </a:bodyPr>
          <a:lstStyle/>
          <a:p>
            <a:r>
              <a:rPr lang="en-ZA" sz="3600" dirty="0">
                <a:latin typeface="Aptos" panose="020B0004020202020204" pitchFamily="34" charset="0"/>
              </a:rPr>
              <a:t>58.9%</a:t>
            </a:r>
          </a:p>
          <a:p>
            <a:r>
              <a:rPr lang="en-ZA" sz="1000" dirty="0">
                <a:latin typeface="Aptos" panose="020B0004020202020204" pitchFamily="34" charset="0"/>
              </a:rPr>
              <a:t>of households sent for follow-up</a:t>
            </a:r>
          </a:p>
        </p:txBody>
      </p:sp>
      <p:sp>
        <p:nvSpPr>
          <p:cNvPr id="12" name="TextBox 11">
            <a:extLst>
              <a:ext uri="{FF2B5EF4-FFF2-40B4-BE49-F238E27FC236}">
                <a16:creationId xmlns:a16="http://schemas.microsoft.com/office/drawing/2014/main" id="{1B1756CB-70A7-1D40-035E-C9204C6C5E1B}"/>
              </a:ext>
            </a:extLst>
          </p:cNvPr>
          <p:cNvSpPr txBox="1"/>
          <p:nvPr/>
        </p:nvSpPr>
        <p:spPr>
          <a:xfrm>
            <a:off x="1141412" y="5848290"/>
            <a:ext cx="9906000" cy="246221"/>
          </a:xfrm>
          <a:prstGeom prst="rect">
            <a:avLst/>
          </a:prstGeom>
          <a:noFill/>
        </p:spPr>
        <p:txBody>
          <a:bodyPr wrap="square">
            <a:spAutoFit/>
          </a:bodyPr>
          <a:lstStyle/>
          <a:p>
            <a:r>
              <a:rPr lang="en-ZA" sz="1000" dirty="0">
                <a:latin typeface="Aptos" panose="020B0004020202020204" pitchFamily="34" charset="0"/>
              </a:rPr>
              <a:t>Measured once on 6,279 held-out test households. The threshold was fixed on cross-validation before testing.</a:t>
            </a:r>
          </a:p>
        </p:txBody>
      </p:sp>
      <p:pic>
        <p:nvPicPr>
          <p:cNvPr id="13" name="Picture 12" descr="slide5_threshold.png"/>
          <p:cNvPicPr>
            <a:picLocks noChangeAspect="1"/>
          </p:cNvPicPr>
          <p:nvPr/>
        </p:nvPicPr>
        <p:blipFill>
          <a:blip r:embed="rId3"/>
          <a:stretch>
            <a:fillRect/>
          </a:stretch>
        </p:blipFill>
        <p:spPr>
          <a:xfrm>
            <a:off x="2857500" y="2095500"/>
            <a:ext cx="6477000" cy="2797186"/>
          </a:xfrm>
          <a:prstGeom prst="rect">
            <a:avLst/>
          </a:prstGeom>
        </p:spPr>
      </p:pic>
      <p:sp>
        <p:nvSpPr>
          <p:cNvPr id="14" name="TextBox 13">
            <a:extLst>
              <a:ext uri="{FF2B5EF4-FFF2-40B4-BE49-F238E27FC236}">
                <a16:creationId xmlns:a16="http://schemas.microsoft.com/office/drawing/2014/main" id="{5C2C44F7-D166-FB5F-7D0B-3458C77DA94B}"/>
              </a:ext>
            </a:extLst>
          </p:cNvPr>
          <p:cNvSpPr txBox="1"/>
          <p:nvPr/>
        </p:nvSpPr>
        <p:spPr>
          <a:xfrm>
            <a:off x="8572500" y="4927600"/>
            <a:ext cx="2349500" cy="800100"/>
          </a:xfrm>
          <a:prstGeom prst="rect">
            <a:avLst/>
          </a:prstGeom>
          <a:noFill/>
        </p:spPr>
        <p:txBody>
          <a:bodyPr wrap="square" rtlCol="0">
            <a:spAutoFit/>
          </a:bodyPr>
          <a:lstStyle/>
          <a:p>
            <a:r>
              <a:rPr lang="en-ZA" sz="3600" dirty="0">
                <a:latin typeface="Aptos" panose="020B0004020202020204" pitchFamily="34" charset="0"/>
              </a:rPr>
              <a:t>0.736</a:t>
            </a:r>
          </a:p>
          <a:p>
            <a:r>
              <a:rPr lang="en-ZA" sz="1000" dirty="0">
                <a:latin typeface="Aptos" panose="020B0004020202020204" pitchFamily="34" charset="0"/>
              </a:rPr>
              <a:t>ROC-AUC (0.5 = coin flip)</a:t>
            </a:r>
          </a:p>
        </p:txBody>
      </p:sp>
    </p:spTree>
    <p:extLst>
      <p:ext uri="{BB962C8B-B14F-4D97-AF65-F5344CB8AC3E}">
        <p14:creationId xmlns:p14="http://schemas.microsoft.com/office/powerpoint/2010/main" val="467632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F4360-6490-5821-C767-8B253775AAC8}"/>
              </a:ext>
            </a:extLst>
          </p:cNvPr>
          <p:cNvSpPr>
            <a:spLocks noGrp="1"/>
          </p:cNvSpPr>
          <p:nvPr>
            <p:ph type="title"/>
          </p:nvPr>
        </p:nvSpPr>
        <p:spPr>
          <a:xfrm>
            <a:off x="1141413" y="609600"/>
            <a:ext cx="9905998" cy="660400"/>
          </a:xfrm>
        </p:spPr>
        <p:txBody>
          <a:bodyPr/>
          <a:lstStyle/>
          <a:p>
            <a:r>
              <a:rPr lang="en-ZA" dirty="0"/>
              <a:t>Key findings</a:t>
            </a:r>
          </a:p>
        </p:txBody>
      </p:sp>
      <p:sp>
        <p:nvSpPr>
          <p:cNvPr id="3" name="TextBox 2">
            <a:extLst>
              <a:ext uri="{FF2B5EF4-FFF2-40B4-BE49-F238E27FC236}">
                <a16:creationId xmlns:a16="http://schemas.microsoft.com/office/drawing/2014/main" id="{FE9297A4-1992-4484-5CC0-1890A6C615D8}"/>
              </a:ext>
            </a:extLst>
          </p:cNvPr>
          <p:cNvSpPr txBox="1"/>
          <p:nvPr/>
        </p:nvSpPr>
        <p:spPr>
          <a:xfrm>
            <a:off x="1141413" y="1466849"/>
            <a:ext cx="9828211" cy="461665"/>
          </a:xfrm>
          <a:prstGeom prst="rect">
            <a:avLst/>
          </a:prstGeom>
          <a:noFill/>
        </p:spPr>
        <p:txBody>
          <a:bodyPr wrap="square" rtlCol="0">
            <a:spAutoFit/>
          </a:bodyPr>
          <a:lstStyle/>
          <a:p>
            <a:r>
              <a:rPr lang="en-ZA" sz="2400" dirty="0">
                <a:latin typeface="Aptos" panose="020B0004020202020204" pitchFamily="34" charset="0"/>
              </a:rPr>
              <a:t>Income change is the warning sign, but the better-off get missed</a:t>
            </a:r>
          </a:p>
        </p:txBody>
      </p:sp>
      <p:sp>
        <p:nvSpPr>
          <p:cNvPr id="6" name="TextBox 5">
            <a:extLst>
              <a:ext uri="{FF2B5EF4-FFF2-40B4-BE49-F238E27FC236}">
                <a16:creationId xmlns:a16="http://schemas.microsoft.com/office/drawing/2014/main" id="{0B20D662-6E1A-AFE4-9EDF-5CB8010C8DDE}"/>
              </a:ext>
            </a:extLst>
          </p:cNvPr>
          <p:cNvSpPr txBox="1"/>
          <p:nvPr/>
        </p:nvSpPr>
        <p:spPr>
          <a:xfrm>
            <a:off x="7956550" y="2125363"/>
            <a:ext cx="3575050" cy="3139321"/>
          </a:xfrm>
          <a:prstGeom prst="rect">
            <a:avLst/>
          </a:prstGeom>
          <a:noFill/>
        </p:spPr>
        <p:txBody>
          <a:bodyPr wrap="square" rtlCol="0">
            <a:spAutoFit/>
          </a:bodyPr>
          <a:lstStyle/>
          <a:p>
            <a:r>
              <a:rPr lang="en-ZA" sz="2400" b="1" u="sng" dirty="0">
                <a:effectLst>
                  <a:outerShdw blurRad="38100" dist="38100" dir="2700000" algn="tl">
                    <a:srgbClr val="000000">
                      <a:alpha val="43137"/>
                    </a:srgbClr>
                  </a:outerShdw>
                </a:effectLst>
                <a:latin typeface="Aptos" panose="020B0004020202020204" pitchFamily="34" charset="0"/>
              </a:rPr>
              <a:t>Income change leads</a:t>
            </a:r>
          </a:p>
          <a:p>
            <a:r>
              <a:rPr lang="en-ZA" dirty="0">
                <a:latin typeface="Aptos" panose="020B0004020202020204" pitchFamily="34" charset="0"/>
              </a:rPr>
              <a:t>AUC drop 0.082, about 2.5 times the next answer</a:t>
            </a:r>
          </a:p>
          <a:p>
            <a:r>
              <a:rPr lang="en-ZA" sz="2400" b="1" u="sng" dirty="0">
                <a:latin typeface="Aptos" panose="020B0004020202020204" pitchFamily="34" charset="0"/>
              </a:rPr>
              <a:t>Grants mark need</a:t>
            </a:r>
          </a:p>
          <a:p>
            <a:r>
              <a:rPr lang="en-ZA" dirty="0">
                <a:latin typeface="Aptos" panose="020B0004020202020204" pitchFamily="34" charset="0"/>
              </a:rPr>
              <a:t>37.6% of grant households are at risk vs 20.6% without: targeting, not harm</a:t>
            </a:r>
          </a:p>
          <a:p>
            <a:r>
              <a:rPr lang="en-ZA" sz="2400" b="1" u="sng" dirty="0">
                <a:effectLst>
                  <a:outerShdw blurRad="38100" dist="38100" dir="2700000" algn="tl">
                    <a:srgbClr val="000000">
                      <a:alpha val="43137"/>
                    </a:srgbClr>
                  </a:outerShdw>
                </a:effectLst>
                <a:latin typeface="Aptos" panose="020B0004020202020204" pitchFamily="34" charset="0"/>
              </a:rPr>
              <a:t>Weakest above R11,500</a:t>
            </a:r>
          </a:p>
          <a:p>
            <a:r>
              <a:rPr lang="en-ZA" dirty="0">
                <a:effectLst>
                  <a:outerShdw blurRad="38100" dist="38100" dir="2700000" algn="tl">
                    <a:srgbClr val="000000">
                      <a:alpha val="43137"/>
                    </a:srgbClr>
                  </a:outerShdw>
                </a:effectLst>
                <a:latin typeface="Aptos" panose="020B0004020202020204" pitchFamily="34" charset="0"/>
              </a:rPr>
              <a:t>Only 39.2% found there, so a low score is not clearance</a:t>
            </a:r>
            <a:endParaRPr lang="en-ZA" dirty="0">
              <a:latin typeface="Aptos" panose="020B0004020202020204" pitchFamily="34" charset="0"/>
            </a:endParaRPr>
          </a:p>
        </p:txBody>
      </p:sp>
      <p:sp>
        <p:nvSpPr>
          <p:cNvPr id="7" name="TextBox 6">
            <a:extLst>
              <a:ext uri="{FF2B5EF4-FFF2-40B4-BE49-F238E27FC236}">
                <a16:creationId xmlns:a16="http://schemas.microsoft.com/office/drawing/2014/main" id="{0F3B1B2A-8E7E-D69D-CCB1-A24D0C4A1ECE}"/>
              </a:ext>
            </a:extLst>
          </p:cNvPr>
          <p:cNvSpPr txBox="1"/>
          <p:nvPr/>
        </p:nvSpPr>
        <p:spPr>
          <a:xfrm>
            <a:off x="1141413" y="4914900"/>
            <a:ext cx="6194624" cy="400110"/>
          </a:xfrm>
          <a:prstGeom prst="rect">
            <a:avLst/>
          </a:prstGeom>
          <a:noFill/>
        </p:spPr>
        <p:txBody>
          <a:bodyPr wrap="square" rtlCol="0">
            <a:spAutoFit/>
          </a:bodyPr>
          <a:lstStyle/>
          <a:p>
            <a:r>
              <a:rPr lang="en-ZA" sz="1000" dirty="0"/>
              <a:t>Left: permutation importance on the test set. Right: recall by group; orange is outside the 10-point tolerance band.</a:t>
            </a:r>
          </a:p>
        </p:txBody>
      </p:sp>
      <p:sp>
        <p:nvSpPr>
          <p:cNvPr id="9" name="TextBox 8">
            <a:extLst>
              <a:ext uri="{FF2B5EF4-FFF2-40B4-BE49-F238E27FC236}">
                <a16:creationId xmlns:a16="http://schemas.microsoft.com/office/drawing/2014/main" id="{CACA6238-8B81-7B10-6122-1E33CB7F4BD8}"/>
              </a:ext>
            </a:extLst>
          </p:cNvPr>
          <p:cNvSpPr txBox="1"/>
          <p:nvPr/>
        </p:nvSpPr>
        <p:spPr>
          <a:xfrm>
            <a:off x="1141412" y="5848290"/>
            <a:ext cx="6815137" cy="246221"/>
          </a:xfrm>
          <a:prstGeom prst="rect">
            <a:avLst/>
          </a:prstGeom>
          <a:noFill/>
        </p:spPr>
        <p:txBody>
          <a:bodyPr wrap="square">
            <a:spAutoFit/>
          </a:bodyPr>
          <a:lstStyle/>
          <a:p>
            <a:r>
              <a:rPr lang="en-ZA" sz="1000" dirty="0">
                <a:latin typeface="Aptos" panose="020B0004020202020204" pitchFamily="34" charset="0"/>
              </a:rPr>
              <a:t>58.3% of households whose income fell sharply are food insecure, against 18-21% mid-scale.</a:t>
            </a:r>
            <a:endParaRPr lang="en-ZA" sz="1000" dirty="0">
              <a:latin typeface="Aptos" panose="020B0004020202020204" pitchFamily="34" charset="0"/>
            </a:endParaRPr>
          </a:p>
        </p:txBody>
      </p:sp>
      <p:pic>
        <p:nvPicPr>
          <p:cNvPr id="10" name="Picture 9" descr="slide6_findings.png"/>
          <p:cNvPicPr>
            <a:picLocks noChangeAspect="1"/>
          </p:cNvPicPr>
          <p:nvPr/>
        </p:nvPicPr>
        <p:blipFill>
          <a:blip r:embed="rId3"/>
          <a:stretch>
            <a:fillRect/>
          </a:stretch>
        </p:blipFill>
        <p:spPr>
          <a:xfrm>
            <a:off x="1143000" y="2120900"/>
            <a:ext cx="6197600" cy="2676523"/>
          </a:xfrm>
          <a:prstGeom prst="rect">
            <a:avLst/>
          </a:prstGeom>
        </p:spPr>
      </p:pic>
    </p:spTree>
    <p:extLst>
      <p:ext uri="{BB962C8B-B14F-4D97-AF65-F5344CB8AC3E}">
        <p14:creationId xmlns:p14="http://schemas.microsoft.com/office/powerpoint/2010/main" val="556620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F4360-6490-5821-C767-8B253775AAC8}"/>
              </a:ext>
            </a:extLst>
          </p:cNvPr>
          <p:cNvSpPr>
            <a:spLocks noGrp="1"/>
          </p:cNvSpPr>
          <p:nvPr>
            <p:ph type="title"/>
          </p:nvPr>
        </p:nvSpPr>
        <p:spPr>
          <a:xfrm>
            <a:off x="1141413" y="609600"/>
            <a:ext cx="9905998" cy="660400"/>
          </a:xfrm>
        </p:spPr>
        <p:txBody>
          <a:bodyPr/>
          <a:lstStyle/>
          <a:p>
            <a:r>
              <a:rPr lang="en-ZA" dirty="0"/>
              <a:t>Dashboard demo</a:t>
            </a:r>
          </a:p>
        </p:txBody>
      </p:sp>
      <p:sp>
        <p:nvSpPr>
          <p:cNvPr id="3" name="TextBox 2">
            <a:extLst>
              <a:ext uri="{FF2B5EF4-FFF2-40B4-BE49-F238E27FC236}">
                <a16:creationId xmlns:a16="http://schemas.microsoft.com/office/drawing/2014/main" id="{FE9297A4-1992-4484-5CC0-1890A6C615D8}"/>
              </a:ext>
            </a:extLst>
          </p:cNvPr>
          <p:cNvSpPr txBox="1"/>
          <p:nvPr/>
        </p:nvSpPr>
        <p:spPr>
          <a:xfrm>
            <a:off x="1141413" y="1466849"/>
            <a:ext cx="9828211" cy="461665"/>
          </a:xfrm>
          <a:prstGeom prst="rect">
            <a:avLst/>
          </a:prstGeom>
          <a:noFill/>
        </p:spPr>
        <p:txBody>
          <a:bodyPr wrap="square" rtlCol="0">
            <a:spAutoFit/>
          </a:bodyPr>
          <a:lstStyle/>
          <a:p>
            <a:r>
              <a:rPr lang="en-ZA" sz="2400" dirty="0">
                <a:latin typeface="Aptos" panose="020B0004020202020204" pitchFamily="34" charset="0"/>
              </a:rPr>
              <a:t>Setting the referral threshold against real capacity</a:t>
            </a:r>
          </a:p>
        </p:txBody>
      </p:sp>
      <p:sp>
        <p:nvSpPr>
          <p:cNvPr id="6" name="TextBox 5">
            <a:extLst>
              <a:ext uri="{FF2B5EF4-FFF2-40B4-BE49-F238E27FC236}">
                <a16:creationId xmlns:a16="http://schemas.microsoft.com/office/drawing/2014/main" id="{0B20D662-6E1A-AFE4-9EDF-5CB8010C8DDE}"/>
              </a:ext>
            </a:extLst>
          </p:cNvPr>
          <p:cNvSpPr txBox="1"/>
          <p:nvPr/>
        </p:nvSpPr>
        <p:spPr>
          <a:xfrm>
            <a:off x="7620000" y="2125363"/>
            <a:ext cx="4064000" cy="3139321"/>
          </a:xfrm>
          <a:prstGeom prst="rect">
            <a:avLst/>
          </a:prstGeom>
          <a:noFill/>
        </p:spPr>
        <p:txBody>
          <a:bodyPr wrap="square" rtlCol="0">
            <a:spAutoFit/>
          </a:bodyPr>
          <a:lstStyle/>
          <a:p>
            <a:r>
              <a:rPr lang="en-ZA" sz="2400" b="1" u="sng" dirty="0">
                <a:effectLst>
                  <a:outerShdw blurRad="38100" dist="38100" dir="2700000" algn="tl">
                    <a:srgbClr val="000000">
                      <a:alpha val="43137"/>
                    </a:srgbClr>
                  </a:outerShdw>
                </a:effectLst>
                <a:latin typeface="Aptos" panose="020B0004020202020204" pitchFamily="34" charset="0"/>
              </a:rPr>
              <a:t>How well the screen works</a:t>
            </a:r>
          </a:p>
          <a:p>
            <a:r>
              <a:rPr lang="en-ZA" dirty="0">
                <a:latin typeface="Aptos" panose="020B0004020202020204" pitchFamily="34" charset="0"/>
              </a:rPr>
              <a:t>Change the threshold and watch recall and referrals move</a:t>
            </a:r>
          </a:p>
          <a:p>
            <a:r>
              <a:rPr lang="en-ZA" sz="2400" b="1" u="sng" dirty="0">
                <a:latin typeface="Aptos" panose="020B0004020202020204" pitchFamily="34" charset="0"/>
              </a:rPr>
              <a:t>Who the screen misses</a:t>
            </a:r>
          </a:p>
          <a:p>
            <a:r>
              <a:rPr lang="en-ZA" dirty="0">
                <a:latin typeface="Aptos" panose="020B0004020202020204" pitchFamily="34" charset="0"/>
              </a:rPr>
              <a:t>Recall by income, grants and province, with intervals</a:t>
            </a:r>
          </a:p>
          <a:p>
            <a:r>
              <a:rPr lang="en-ZA" sz="2400" b="1" u="sng" dirty="0">
                <a:effectLst>
                  <a:outerShdw blurRad="38100" dist="38100" dir="2700000" algn="tl">
                    <a:srgbClr val="000000">
                      <a:alpha val="43137"/>
                    </a:srgbClr>
                  </a:outerShdw>
                </a:effectLst>
                <a:latin typeface="Aptos" panose="020B0004020202020204" pitchFamily="34" charset="0"/>
              </a:rPr>
              <a:t>What drives risk</a:t>
            </a:r>
          </a:p>
          <a:p>
            <a:r>
              <a:rPr lang="en-ZA" dirty="0">
                <a:effectLst>
                  <a:outerShdw blurRad="38100" dist="38100" dir="2700000" algn="tl">
                    <a:srgbClr val="000000">
                      <a:alpha val="43137"/>
                    </a:srgbClr>
                  </a:outerShdw>
                </a:effectLst>
                <a:latin typeface="Aptos" panose="020B0004020202020204" pitchFamily="34" charset="0"/>
              </a:rPr>
              <a:t>Income change first, odds ratios with 95% intervals</a:t>
            </a:r>
            <a:endParaRPr lang="en-ZA" dirty="0">
              <a:latin typeface="Aptos" panose="020B0004020202020204" pitchFamily="34" charset="0"/>
            </a:endParaRPr>
          </a:p>
        </p:txBody>
      </p:sp>
      <p:sp>
        <p:nvSpPr>
          <p:cNvPr id="7" name="TextBox 6">
            <a:extLst>
              <a:ext uri="{FF2B5EF4-FFF2-40B4-BE49-F238E27FC236}">
                <a16:creationId xmlns:a16="http://schemas.microsoft.com/office/drawing/2014/main" id="{0F3B1B2A-8E7E-D69D-CCB1-A24D0C4A1ECE}"/>
              </a:ext>
            </a:extLst>
          </p:cNvPr>
          <p:cNvSpPr txBox="1"/>
          <p:nvPr/>
        </p:nvSpPr>
        <p:spPr>
          <a:xfrm>
            <a:off x="1141413" y="5461000"/>
            <a:ext cx="6194624" cy="400110"/>
          </a:xfrm>
          <a:prstGeom prst="rect">
            <a:avLst/>
          </a:prstGeom>
          <a:noFill/>
        </p:spPr>
        <p:txBody>
          <a:bodyPr wrap="square" rtlCol="0">
            <a:spAutoFit/>
          </a:bodyPr>
          <a:lstStyle/>
          <a:p>
            <a:r>
              <a:rPr lang="en-ZA" sz="1000" dirty="0"/>
              <a:t>Backup screenshot: the 'How well the screen works' page at the deployed threshold of 0.24.</a:t>
            </a:r>
          </a:p>
        </p:txBody>
      </p:sp>
      <p:sp>
        <p:nvSpPr>
          <p:cNvPr id="9" name="TextBox 8">
            <a:extLst>
              <a:ext uri="{FF2B5EF4-FFF2-40B4-BE49-F238E27FC236}">
                <a16:creationId xmlns:a16="http://schemas.microsoft.com/office/drawing/2014/main" id="{CACA6238-8B81-7B10-6122-1E33CB7F4BD8}"/>
              </a:ext>
            </a:extLst>
          </p:cNvPr>
          <p:cNvSpPr txBox="1"/>
          <p:nvPr/>
        </p:nvSpPr>
        <p:spPr>
          <a:xfrm>
            <a:off x="1141412" y="5848290"/>
            <a:ext cx="6815137" cy="246221"/>
          </a:xfrm>
          <a:prstGeom prst="rect">
            <a:avLst/>
          </a:prstGeom>
          <a:noFill/>
        </p:spPr>
        <p:txBody>
          <a:bodyPr wrap="square">
            <a:spAutoFit/>
          </a:bodyPr>
          <a:lstStyle/>
          <a:p>
            <a:r>
              <a:rPr lang="en-ZA" sz="1000" dirty="0">
                <a:latin typeface="Aptos" panose="020B0004020202020204" pitchFamily="34" charset="0"/>
              </a:rPr>
              <a:t>Live in Power BI, then over to Timothy for the Shiny app.</a:t>
            </a:r>
            <a:endParaRPr lang="en-ZA" sz="1000" dirty="0">
              <a:latin typeface="Aptos" panose="020B0004020202020204" pitchFamily="34" charset="0"/>
            </a:endParaRPr>
          </a:p>
        </p:txBody>
      </p:sp>
      <p:pic>
        <p:nvPicPr>
          <p:cNvPr id="10" name="Picture 9" descr="slide7_dashboard.jpg"/>
          <p:cNvPicPr>
            <a:picLocks noChangeAspect="1"/>
          </p:cNvPicPr>
          <p:nvPr/>
        </p:nvPicPr>
        <p:blipFill>
          <a:blip r:embed="rId3"/>
          <a:stretch>
            <a:fillRect/>
          </a:stretch>
        </p:blipFill>
        <p:spPr>
          <a:xfrm>
            <a:off x="1143000" y="2032000"/>
            <a:ext cx="6096000" cy="3392924"/>
          </a:xfrm>
          <a:prstGeom prst="rect">
            <a:avLst/>
          </a:prstGeom>
        </p:spPr>
      </p:pic>
    </p:spTree>
    <p:extLst>
      <p:ext uri="{BB962C8B-B14F-4D97-AF65-F5344CB8AC3E}">
        <p14:creationId xmlns:p14="http://schemas.microsoft.com/office/powerpoint/2010/main" val="556620780"/>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43000" y="612648"/>
            <a:ext cx="9902952" cy="658368"/>
          </a:xfrm>
        </p:spPr>
        <p:txBody>
          <a:bodyPr/>
          <a:lstStyle/>
          <a:p>
            <a:r>
              <a:t>App demo</a:t>
            </a:r>
          </a:p>
        </p:txBody>
      </p:sp>
      <p:sp>
        <p:nvSpPr>
          <p:cNvPr id="3" name="TextBox 2"/>
          <p:cNvSpPr txBox="1"/>
          <p:nvPr/>
        </p:nvSpPr>
        <p:spPr>
          <a:xfrm>
            <a:off x="1143000" y="1481328"/>
            <a:ext cx="9902952" cy="457200"/>
          </a:xfrm>
          <a:prstGeom prst="rect">
            <a:avLst/>
          </a:prstGeom>
          <a:noFill/>
        </p:spPr>
        <p:txBody>
          <a:bodyPr wrap="square" lIns="0" rIns="0" tIns="0" bIns="0">
            <a:spAutoFit/>
          </a:bodyPr>
          <a:lstStyle/>
          <a:p>
            <a:pPr algn="l">
              <a:spcAft>
                <a:spcPts val="600"/>
              </a:spcAft>
            </a:pPr>
            <a:r>
              <a:rPr sz="2400" b="0" i="0">
                <a:solidFill>
                  <a:srgbClr val="363D46"/>
                </a:solidFill>
                <a:latin typeface="Aptos"/>
              </a:rPr>
              <a:t>An official can score one household in about ten seconds</a:t>
            </a:r>
          </a:p>
        </p:txBody>
      </p:sp>
      <p:sp>
        <p:nvSpPr>
          <p:cNvPr id="4" name="TextBox 3"/>
          <p:cNvSpPr txBox="1"/>
          <p:nvPr/>
        </p:nvSpPr>
        <p:spPr>
          <a:xfrm>
            <a:off x="1143000" y="5852160"/>
            <a:ext cx="9902952" cy="411480"/>
          </a:xfrm>
          <a:prstGeom prst="rect">
            <a:avLst/>
          </a:prstGeom>
          <a:noFill/>
        </p:spPr>
        <p:txBody>
          <a:bodyPr wrap="square" lIns="0" rIns="0" tIns="0" bIns="0">
            <a:spAutoFit/>
          </a:bodyPr>
          <a:lstStyle/>
          <a:p>
            <a:pPr algn="l">
              <a:spcAft>
                <a:spcPts val="600"/>
              </a:spcAft>
            </a:pPr>
            <a:r>
              <a:rPr sz="1000" b="0" i="0">
                <a:solidFill>
                  <a:srgbClr val="6F6F6F"/>
                </a:solidFill>
                <a:latin typeface="Aptos"/>
              </a:rPr>
              <a:t>All 6,279 test households were pushed back through the app's own code path and compared with the saved predictions. Largest difference: zero.</a:t>
            </a:r>
          </a:p>
        </p:txBody>
      </p:sp>
      <p:pic>
        <p:nvPicPr>
          <p:cNvPr id="5" name="Picture 4" descr="app_1_single_household.png"/>
          <p:cNvPicPr>
            <a:picLocks noChangeAspect="1"/>
          </p:cNvPicPr>
          <p:nvPr/>
        </p:nvPicPr>
        <p:blipFill>
          <a:blip r:embed="rId2"/>
          <a:stretch>
            <a:fillRect/>
          </a:stretch>
        </p:blipFill>
        <p:spPr>
          <a:xfrm>
            <a:off x="1143000" y="2103120"/>
            <a:ext cx="3154680" cy="2309428"/>
          </a:xfrm>
          <a:prstGeom prst="rect">
            <a:avLst/>
          </a:prstGeom>
        </p:spPr>
      </p:pic>
      <p:sp>
        <p:nvSpPr>
          <p:cNvPr id="6" name="TextBox 5"/>
          <p:cNvSpPr txBox="1"/>
          <p:nvPr/>
        </p:nvSpPr>
        <p:spPr>
          <a:xfrm>
            <a:off x="1143000" y="4956048"/>
            <a:ext cx="3154680" cy="274320"/>
          </a:xfrm>
          <a:prstGeom prst="rect">
            <a:avLst/>
          </a:prstGeom>
          <a:noFill/>
        </p:spPr>
        <p:txBody>
          <a:bodyPr wrap="square" lIns="0" rIns="0" tIns="0" bIns="0">
            <a:spAutoFit/>
          </a:bodyPr>
          <a:lstStyle/>
          <a:p>
            <a:pPr algn="ctr">
              <a:spcAft>
                <a:spcPts val="600"/>
              </a:spcAft>
            </a:pPr>
            <a:r>
              <a:rPr sz="1100" b="1" i="0">
                <a:solidFill>
                  <a:srgbClr val="363D46"/>
                </a:solidFill>
                <a:latin typeface="Aptos"/>
              </a:rPr>
              <a:t>One household, scored</a:t>
            </a:r>
          </a:p>
        </p:txBody>
      </p:sp>
      <p:pic>
        <p:nvPicPr>
          <p:cNvPr id="7" name="Picture 6" descr="app_2_batch_upload.png"/>
          <p:cNvPicPr>
            <a:picLocks noChangeAspect="1"/>
          </p:cNvPicPr>
          <p:nvPr/>
        </p:nvPicPr>
        <p:blipFill>
          <a:blip r:embed="rId3"/>
          <a:stretch>
            <a:fillRect/>
          </a:stretch>
        </p:blipFill>
        <p:spPr>
          <a:xfrm>
            <a:off x="4845406" y="2103120"/>
            <a:ext cx="2498140" cy="2743200"/>
          </a:xfrm>
          <a:prstGeom prst="rect">
            <a:avLst/>
          </a:prstGeom>
        </p:spPr>
      </p:pic>
      <p:sp>
        <p:nvSpPr>
          <p:cNvPr id="8" name="TextBox 7"/>
          <p:cNvSpPr txBox="1"/>
          <p:nvPr/>
        </p:nvSpPr>
        <p:spPr>
          <a:xfrm>
            <a:off x="4517136" y="4956048"/>
            <a:ext cx="3154680" cy="274320"/>
          </a:xfrm>
          <a:prstGeom prst="rect">
            <a:avLst/>
          </a:prstGeom>
          <a:noFill/>
        </p:spPr>
        <p:txBody>
          <a:bodyPr wrap="square" lIns="0" rIns="0" tIns="0" bIns="0">
            <a:spAutoFit/>
          </a:bodyPr>
          <a:lstStyle/>
          <a:p>
            <a:pPr algn="ctr">
              <a:spcAft>
                <a:spcPts val="600"/>
              </a:spcAft>
            </a:pPr>
            <a:r>
              <a:rPr sz="1100" b="1" i="0">
                <a:solidFill>
                  <a:srgbClr val="363D46"/>
                </a:solidFill>
                <a:latin typeface="Aptos"/>
              </a:rPr>
              <a:t>A batch, with the issues it refused</a:t>
            </a:r>
          </a:p>
        </p:txBody>
      </p:sp>
      <p:pic>
        <p:nvPicPr>
          <p:cNvPr id="9" name="Picture 8" descr="app_3_about_and_limits.png"/>
          <p:cNvPicPr>
            <a:picLocks noChangeAspect="1"/>
          </p:cNvPicPr>
          <p:nvPr/>
        </p:nvPicPr>
        <p:blipFill>
          <a:blip r:embed="rId4"/>
          <a:stretch>
            <a:fillRect/>
          </a:stretch>
        </p:blipFill>
        <p:spPr>
          <a:xfrm>
            <a:off x="7891272" y="2103120"/>
            <a:ext cx="3154680" cy="2078486"/>
          </a:xfrm>
          <a:prstGeom prst="rect">
            <a:avLst/>
          </a:prstGeom>
        </p:spPr>
      </p:pic>
      <p:sp>
        <p:nvSpPr>
          <p:cNvPr id="10" name="TextBox 9"/>
          <p:cNvSpPr txBox="1"/>
          <p:nvPr/>
        </p:nvSpPr>
        <p:spPr>
          <a:xfrm>
            <a:off x="7891272" y="4956048"/>
            <a:ext cx="3154680" cy="274320"/>
          </a:xfrm>
          <a:prstGeom prst="rect">
            <a:avLst/>
          </a:prstGeom>
          <a:noFill/>
        </p:spPr>
        <p:txBody>
          <a:bodyPr wrap="square" lIns="0" rIns="0" tIns="0" bIns="0">
            <a:spAutoFit/>
          </a:bodyPr>
          <a:lstStyle/>
          <a:p>
            <a:pPr algn="ctr">
              <a:spcAft>
                <a:spcPts val="600"/>
              </a:spcAft>
            </a:pPr>
            <a:r>
              <a:rPr sz="1100" b="1" i="0">
                <a:solidFill>
                  <a:srgbClr val="363D46"/>
                </a:solidFill>
                <a:latin typeface="Aptos"/>
              </a:rPr>
              <a:t>What the tool cannot tell you</a:t>
            </a:r>
          </a:p>
        </p:txBody>
      </p:sp>
      <p:sp>
        <p:nvSpPr>
          <p:cNvPr id="11" name="TextBox 10"/>
          <p:cNvSpPr txBox="1"/>
          <p:nvPr/>
        </p:nvSpPr>
        <p:spPr>
          <a:xfrm>
            <a:off x="1143000" y="5440680"/>
            <a:ext cx="9902952" cy="365760"/>
          </a:xfrm>
          <a:prstGeom prst="rect">
            <a:avLst/>
          </a:prstGeom>
          <a:noFill/>
        </p:spPr>
        <p:txBody>
          <a:bodyPr wrap="square" lIns="0" rIns="0" tIns="0" bIns="0">
            <a:spAutoFit/>
          </a:bodyPr>
          <a:lstStyle/>
          <a:p>
            <a:pPr algn="l">
              <a:spcAft>
                <a:spcPts val="600"/>
              </a:spcAft>
            </a:pPr>
            <a:r>
              <a:rPr sz="1600" b="1" i="0">
                <a:solidFill>
                  <a:srgbClr val="363D46"/>
                </a:solidFill>
                <a:latin typeface="Aptos"/>
              </a:rPr>
              <a:t>Seven questions in. A probability, a recommendation and the three reasons out.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43000" y="612648"/>
            <a:ext cx="9902952" cy="658368"/>
          </a:xfrm>
        </p:spPr>
        <p:txBody>
          <a:bodyPr/>
          <a:lstStyle/>
          <a:p>
            <a:r>
              <a:t>Recommendations</a:t>
            </a:r>
          </a:p>
        </p:txBody>
      </p:sp>
      <p:sp>
        <p:nvSpPr>
          <p:cNvPr id="3" name="TextBox 2"/>
          <p:cNvSpPr txBox="1"/>
          <p:nvPr/>
        </p:nvSpPr>
        <p:spPr>
          <a:xfrm>
            <a:off x="1143000" y="1481328"/>
            <a:ext cx="9902952" cy="457200"/>
          </a:xfrm>
          <a:prstGeom prst="rect">
            <a:avLst/>
          </a:prstGeom>
          <a:noFill/>
        </p:spPr>
        <p:txBody>
          <a:bodyPr wrap="square" lIns="0" rIns="0" tIns="0" bIns="0">
            <a:spAutoFit/>
          </a:bodyPr>
          <a:lstStyle/>
          <a:p>
            <a:pPr algn="l">
              <a:spcAft>
                <a:spcPts val="600"/>
              </a:spcAft>
            </a:pPr>
            <a:r>
              <a:rPr sz="2400" b="0" i="0">
                <a:solidFill>
                  <a:srgbClr val="363D46"/>
                </a:solidFill>
                <a:latin typeface="Aptos"/>
              </a:rPr>
              <a:t>Five actions, each with the caution attached</a:t>
            </a:r>
          </a:p>
        </p:txBody>
      </p:sp>
      <p:graphicFrame>
        <p:nvGraphicFramePr>
          <p:cNvPr id="4" name="Table 3"/>
          <p:cNvGraphicFramePr>
            <a:graphicFrameLocks noGrp="1"/>
          </p:cNvGraphicFramePr>
          <p:nvPr/>
        </p:nvGraphicFramePr>
        <p:xfrm>
          <a:off x="1143000" y="2103120"/>
          <a:ext cx="9902952" cy="3511296"/>
        </p:xfrm>
        <a:graphic>
          <a:graphicData uri="http://schemas.openxmlformats.org/drawingml/2006/table">
            <a:tbl>
              <a:tblPr firstRow="1" bandRow="1">
                <a:tableStyleId>{5C22544A-7EE6-4342-B048-85BDC9FD1C3A}</a:tableStyleId>
              </a:tblPr>
              <a:tblGrid>
                <a:gridCol w="3291840"/>
                <a:gridCol w="4389120"/>
                <a:gridCol w="2221992"/>
              </a:tblGrid>
              <a:tr h="585216">
                <a:tc>
                  <a:txBody>
                    <a:bodyPr/>
                    <a:lstStyle/>
                    <a:p>
                      <a:r>
                        <a:rPr sz="1100" b="1">
                          <a:solidFill>
                            <a:srgbClr val="363D46"/>
                          </a:solidFill>
                          <a:latin typeface="Aptos"/>
                        </a:rPr>
                        <a:t>Action</a:t>
                      </a:r>
                    </a:p>
                  </a:txBody>
                  <a:tcPr anchor="ctr" marL="73152" marR="73152" marT="27432" marB="27432">
                    <a:solidFill>
                      <a:srgbClr val="EBEBEB"/>
                    </a:solidFill>
                  </a:tcPr>
                </a:tc>
                <a:tc>
                  <a:txBody>
                    <a:bodyPr/>
                    <a:lstStyle/>
                    <a:p>
                      <a:r>
                        <a:rPr sz="1100" b="1">
                          <a:solidFill>
                            <a:srgbClr val="363D46"/>
                          </a:solidFill>
                          <a:latin typeface="Aptos"/>
                        </a:rPr>
                        <a:t>The number behind it</a:t>
                      </a:r>
                    </a:p>
                  </a:txBody>
                  <a:tcPr anchor="ctr" marL="73152" marR="73152" marT="27432" marB="27432">
                    <a:solidFill>
                      <a:srgbClr val="EBEBEB"/>
                    </a:solidFill>
                  </a:tcPr>
                </a:tc>
                <a:tc>
                  <a:txBody>
                    <a:bodyPr/>
                    <a:lstStyle/>
                    <a:p>
                      <a:r>
                        <a:rPr sz="1100" b="1">
                          <a:solidFill>
                            <a:srgbClr val="363D46"/>
                          </a:solidFill>
                          <a:latin typeface="Aptos"/>
                        </a:rPr>
                        <a:t>Who acts</a:t>
                      </a:r>
                    </a:p>
                  </a:txBody>
                  <a:tcPr anchor="ctr" marL="73152" marR="73152" marT="27432" marB="27432">
                    <a:solidFill>
                      <a:srgbClr val="EBEBEB"/>
                    </a:solidFill>
                  </a:tcPr>
                </a:tc>
              </a:tr>
              <a:tr h="585216">
                <a:tc>
                  <a:txBody>
                    <a:bodyPr/>
                    <a:lstStyle/>
                    <a:p>
                      <a:r>
                        <a:rPr sz="1100" b="0">
                          <a:solidFill>
                            <a:srgbClr val="363D46"/>
                          </a:solidFill>
                          <a:latin typeface="Aptos"/>
                        </a:rPr>
                        <a:t>Use it for outreach triage, and resource the referral rate</a:t>
                      </a:r>
                    </a:p>
                  </a:txBody>
                  <a:tcPr anchor="ctr" marL="73152" marR="73152" marT="27432" marB="27432">
                    <a:solidFill>
                      <a:srgbClr val="FFFFFF"/>
                    </a:solidFill>
                  </a:tcPr>
                </a:tc>
                <a:tc>
                  <a:txBody>
                    <a:bodyPr/>
                    <a:lstStyle/>
                    <a:p>
                      <a:r>
                        <a:rPr sz="1100" b="0">
                          <a:solidFill>
                            <a:srgbClr val="363D46"/>
                          </a:solidFill>
                          <a:latin typeface="Aptos"/>
                        </a:rPr>
                        <a:t>refers 58.9% of households; 41.9% of referrals are at risk</a:t>
                      </a:r>
                    </a:p>
                  </a:txBody>
                  <a:tcPr anchor="ctr" marL="73152" marR="73152" marT="27432" marB="27432">
                    <a:solidFill>
                      <a:srgbClr val="FFFFFF"/>
                    </a:solidFill>
                  </a:tcPr>
                </a:tc>
                <a:tc>
                  <a:txBody>
                    <a:bodyPr/>
                    <a:lstStyle/>
                    <a:p>
                      <a:r>
                        <a:rPr sz="1100" b="0">
                          <a:solidFill>
                            <a:srgbClr val="363D46"/>
                          </a:solidFill>
                          <a:latin typeface="Aptos"/>
                        </a:rPr>
                        <a:t>Programme managers</a:t>
                      </a:r>
                    </a:p>
                  </a:txBody>
                  <a:tcPr anchor="ctr" marL="73152" marR="73152" marT="27432" marB="27432">
                    <a:solidFill>
                      <a:srgbClr val="FFFFFF"/>
                    </a:solidFill>
                  </a:tcPr>
                </a:tc>
              </a:tr>
              <a:tr h="585216">
                <a:tc>
                  <a:txBody>
                    <a:bodyPr/>
                    <a:lstStyle/>
                    <a:p>
                      <a:r>
                        <a:rPr sz="1100" b="0">
                          <a:solidFill>
                            <a:srgbClr val="363D46"/>
                          </a:solidFill>
                          <a:latin typeface="Aptos"/>
                        </a:rPr>
                        <a:t>Ask about income change over the past year at intake</a:t>
                      </a:r>
                    </a:p>
                  </a:txBody>
                  <a:tcPr anchor="ctr" marL="73152" marR="73152" marT="27432" marB="27432">
                    <a:solidFill>
                      <a:srgbClr val="FFFFFF"/>
                    </a:solidFill>
                  </a:tcPr>
                </a:tc>
                <a:tc>
                  <a:txBody>
                    <a:bodyPr/>
                    <a:lstStyle/>
                    <a:p>
                      <a:r>
                        <a:rPr sz="1100" b="0">
                          <a:solidFill>
                            <a:srgbClr val="363D46"/>
                          </a:solidFill>
                          <a:latin typeface="Aptos"/>
                        </a:rPr>
                        <a:t>strongest single predictor, AUC drop 0.082, about 2.5x the next</a:t>
                      </a:r>
                    </a:p>
                  </a:txBody>
                  <a:tcPr anchor="ctr" marL="73152" marR="73152" marT="27432" marB="27432">
                    <a:solidFill>
                      <a:srgbClr val="FFFFFF"/>
                    </a:solidFill>
                  </a:tcPr>
                </a:tc>
                <a:tc>
                  <a:txBody>
                    <a:bodyPr/>
                    <a:lstStyle/>
                    <a:p>
                      <a:r>
                        <a:rPr sz="1100" b="0">
                          <a:solidFill>
                            <a:srgbClr val="363D46"/>
                          </a:solidFill>
                          <a:latin typeface="Aptos"/>
                        </a:rPr>
                        <a:t>Field staff</a:t>
                      </a:r>
                    </a:p>
                  </a:txBody>
                  <a:tcPr anchor="ctr" marL="73152" marR="73152" marT="27432" marB="27432">
                    <a:solidFill>
                      <a:srgbClr val="FFFFFF"/>
                    </a:solidFill>
                  </a:tcPr>
                </a:tc>
              </a:tr>
              <a:tr h="585216">
                <a:tc>
                  <a:txBody>
                    <a:bodyPr/>
                    <a:lstStyle/>
                    <a:p>
                      <a:r>
                        <a:rPr sz="1100" b="0">
                          <a:solidFill>
                            <a:srgbClr val="363D46"/>
                          </a:solidFill>
                          <a:latin typeface="Aptos"/>
                        </a:rPr>
                        <a:t>Coordinate relief with the grant registers</a:t>
                      </a:r>
                    </a:p>
                  </a:txBody>
                  <a:tcPr anchor="ctr" marL="73152" marR="73152" marT="27432" marB="27432">
                    <a:solidFill>
                      <a:srgbClr val="FFFFFF"/>
                    </a:solidFill>
                  </a:tcPr>
                </a:tc>
                <a:tc>
                  <a:txBody>
                    <a:bodyPr/>
                    <a:lstStyle/>
                    <a:p>
                      <a:r>
                        <a:rPr sz="1100" b="0">
                          <a:solidFill>
                            <a:srgbClr val="363D46"/>
                          </a:solidFill>
                          <a:latin typeface="Aptos"/>
                        </a:rPr>
                        <a:t>37.6% of grant-receiving households at risk against 20.6% without</a:t>
                      </a:r>
                    </a:p>
                  </a:txBody>
                  <a:tcPr anchor="ctr" marL="73152" marR="73152" marT="27432" marB="27432">
                    <a:solidFill>
                      <a:srgbClr val="FFFFFF"/>
                    </a:solidFill>
                  </a:tcPr>
                </a:tc>
                <a:tc>
                  <a:txBody>
                    <a:bodyPr/>
                    <a:lstStyle/>
                    <a:p>
                      <a:r>
                        <a:rPr sz="1100" b="0">
                          <a:solidFill>
                            <a:srgbClr val="363D46"/>
                          </a:solidFill>
                          <a:latin typeface="Aptos"/>
                        </a:rPr>
                        <a:t>Social development</a:t>
                      </a:r>
                    </a:p>
                  </a:txBody>
                  <a:tcPr anchor="ctr" marL="73152" marR="73152" marT="27432" marB="27432">
                    <a:solidFill>
                      <a:srgbClr val="FFFFFF"/>
                    </a:solidFill>
                  </a:tcPr>
                </a:tc>
              </a:tr>
              <a:tr h="585216">
                <a:tc>
                  <a:txBody>
                    <a:bodyPr/>
                    <a:lstStyle/>
                    <a:p>
                      <a:r>
                        <a:rPr sz="1100" b="0">
                          <a:solidFill>
                            <a:srgbClr val="363D46"/>
                          </a:solidFill>
                          <a:latin typeface="Aptos"/>
                        </a:rPr>
                        <a:t>Fund the four highest-risk provinces first</a:t>
                      </a:r>
                    </a:p>
                  </a:txBody>
                  <a:tcPr anchor="ctr" marL="73152" marR="73152" marT="27432" marB="27432">
                    <a:solidFill>
                      <a:srgbClr val="FFFFFF"/>
                    </a:solidFill>
                  </a:tcPr>
                </a:tc>
                <a:tc>
                  <a:txBody>
                    <a:bodyPr/>
                    <a:lstStyle/>
                    <a:p>
                      <a:r>
                        <a:rPr sz="1100" b="0">
                          <a:solidFill>
                            <a:srgbClr val="363D46"/>
                          </a:solidFill>
                          <a:latin typeface="Aptos"/>
                        </a:rPr>
                        <a:t>Eastern Cape 43.0%, Northern Cape 40.5%, North West 37.1%, Mpumalanga 35.5%, against 28.3% nationally</a:t>
                      </a:r>
                    </a:p>
                  </a:txBody>
                  <a:tcPr anchor="ctr" marL="73152" marR="73152" marT="27432" marB="27432">
                    <a:solidFill>
                      <a:srgbClr val="FFFFFF"/>
                    </a:solidFill>
                  </a:tcPr>
                </a:tc>
                <a:tc>
                  <a:txBody>
                    <a:bodyPr/>
                    <a:lstStyle/>
                    <a:p>
                      <a:r>
                        <a:rPr sz="1100" b="0">
                          <a:solidFill>
                            <a:srgbClr val="363D46"/>
                          </a:solidFill>
                          <a:latin typeface="Aptos"/>
                        </a:rPr>
                        <a:t>Provincial teams</a:t>
                      </a:r>
                    </a:p>
                  </a:txBody>
                  <a:tcPr anchor="ctr" marL="73152" marR="73152" marT="27432" marB="27432">
                    <a:solidFill>
                      <a:srgbClr val="FFFFFF"/>
                    </a:solidFill>
                  </a:tcPr>
                </a:tc>
              </a:tr>
              <a:tr h="585216">
                <a:tc>
                  <a:txBody>
                    <a:bodyPr/>
                    <a:lstStyle/>
                    <a:p>
                      <a:r>
                        <a:rPr sz="1100" b="0">
                          <a:solidFill>
                            <a:srgbClr val="363D46"/>
                          </a:solidFill>
                          <a:latin typeface="Aptos"/>
                        </a:rPr>
                        <a:t>Audit "lower risk" households where the screen is weakest</a:t>
                      </a:r>
                    </a:p>
                  </a:txBody>
                  <a:tcPr anchor="ctr" marL="73152" marR="73152" marT="27432" marB="27432">
                    <a:solidFill>
                      <a:srgbClr val="FFFFFF"/>
                    </a:solidFill>
                  </a:tcPr>
                </a:tc>
                <a:tc>
                  <a:txBody>
                    <a:bodyPr/>
                    <a:lstStyle/>
                    <a:p>
                      <a:r>
                        <a:rPr sz="1100" b="0">
                          <a:solidFill>
                            <a:srgbClr val="363D46"/>
                          </a:solidFill>
                          <a:latin typeface="Aptos"/>
                        </a:rPr>
                        <a:t>recall 39.2% above R11,500 and 61.7% with no grants</a:t>
                      </a:r>
                    </a:p>
                  </a:txBody>
                  <a:tcPr anchor="ctr" marL="73152" marR="73152" marT="27432" marB="27432">
                    <a:solidFill>
                      <a:srgbClr val="FFFFFF"/>
                    </a:solidFill>
                  </a:tcPr>
                </a:tc>
                <a:tc>
                  <a:txBody>
                    <a:bodyPr/>
                    <a:lstStyle/>
                    <a:p>
                      <a:r>
                        <a:rPr sz="1100" b="0">
                          <a:solidFill>
                            <a:srgbClr val="363D46"/>
                          </a:solidFill>
                          <a:latin typeface="Aptos"/>
                        </a:rPr>
                        <a:t>Field officers, monthly</a:t>
                      </a:r>
                    </a:p>
                  </a:txBody>
                  <a:tcPr anchor="ctr" marL="73152" marR="73152" marT="27432" marB="27432">
                    <a:solidFill>
                      <a:srgbClr val="FFFFFF"/>
                    </a:solidFill>
                  </a:tcPr>
                </a:tc>
              </a:tr>
            </a:tbl>
          </a:graphicData>
        </a:graphic>
      </p:graphicFrame>
      <p:sp>
        <p:nvSpPr>
          <p:cNvPr id="5" name="TextBox 4"/>
          <p:cNvSpPr txBox="1"/>
          <p:nvPr/>
        </p:nvSpPr>
        <p:spPr>
          <a:xfrm>
            <a:off x="1143000" y="5623560"/>
            <a:ext cx="9902952" cy="365760"/>
          </a:xfrm>
          <a:prstGeom prst="rect">
            <a:avLst/>
          </a:prstGeom>
          <a:noFill/>
        </p:spPr>
        <p:txBody>
          <a:bodyPr wrap="square" lIns="0" rIns="0" tIns="0" bIns="0">
            <a:spAutoFit/>
          </a:bodyPr>
          <a:lstStyle/>
          <a:p>
            <a:pPr algn="l">
              <a:spcAft>
                <a:spcPts val="600"/>
              </a:spcAft>
            </a:pPr>
            <a:r>
              <a:rPr sz="1400" b="1" i="0">
                <a:solidFill>
                  <a:srgbClr val="CF7133"/>
                </a:solidFill>
                <a:latin typeface="Aptos"/>
              </a:rPr>
              <a:t>A screening aid. An official reviews every referral, and a low score is never clearance.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43000" y="612648"/>
            <a:ext cx="9902952" cy="658368"/>
          </a:xfrm>
        </p:spPr>
        <p:txBody>
          <a:bodyPr/>
          <a:lstStyle/>
          <a:p>
            <a:r>
              <a:t>Limits and next steps</a:t>
            </a:r>
          </a:p>
        </p:txBody>
      </p:sp>
      <p:sp>
        <p:nvSpPr>
          <p:cNvPr id="3" name="TextBox 2"/>
          <p:cNvSpPr txBox="1"/>
          <p:nvPr/>
        </p:nvSpPr>
        <p:spPr>
          <a:xfrm>
            <a:off x="1143000" y="1481328"/>
            <a:ext cx="9902952" cy="457200"/>
          </a:xfrm>
          <a:prstGeom prst="rect">
            <a:avLst/>
          </a:prstGeom>
          <a:noFill/>
        </p:spPr>
        <p:txBody>
          <a:bodyPr wrap="square" lIns="0" rIns="0" tIns="0" bIns="0">
            <a:spAutoFit/>
          </a:bodyPr>
          <a:lstStyle/>
          <a:p>
            <a:pPr algn="l">
              <a:spcAft>
                <a:spcPts val="600"/>
              </a:spcAft>
            </a:pPr>
            <a:r>
              <a:rPr sz="2400" b="0" i="0">
                <a:solidFill>
                  <a:srgbClr val="363D46"/>
                </a:solidFill>
                <a:latin typeface="Aptos"/>
              </a:rPr>
              <a:t>What this cannot tell you, and what we would do next</a:t>
            </a:r>
          </a:p>
        </p:txBody>
      </p:sp>
      <p:sp>
        <p:nvSpPr>
          <p:cNvPr id="4" name="TextBox 3"/>
          <p:cNvSpPr txBox="1"/>
          <p:nvPr/>
        </p:nvSpPr>
        <p:spPr>
          <a:xfrm>
            <a:off x="1143000" y="5852160"/>
            <a:ext cx="9902952" cy="411480"/>
          </a:xfrm>
          <a:prstGeom prst="rect">
            <a:avLst/>
          </a:prstGeom>
          <a:noFill/>
        </p:spPr>
        <p:txBody>
          <a:bodyPr wrap="square" lIns="0" rIns="0" tIns="0" bIns="0">
            <a:spAutoFit/>
          </a:bodyPr>
          <a:lstStyle/>
          <a:p>
            <a:pPr algn="l">
              <a:spcAft>
                <a:spcPts val="600"/>
              </a:spcAft>
            </a:pPr>
            <a:r>
              <a:rPr sz="1000" b="0" i="0">
                <a:solidFill>
                  <a:srgbClr val="6F6F6F"/>
                </a:solidFill>
                <a:latin typeface="Aptos"/>
              </a:rPr>
              <a:t>Survey data, not a census. A screening aid, not an eligibility test.</a:t>
            </a:r>
          </a:p>
        </p:txBody>
      </p:sp>
      <p:sp>
        <p:nvSpPr>
          <p:cNvPr id="5" name="TextBox 4"/>
          <p:cNvSpPr txBox="1"/>
          <p:nvPr/>
        </p:nvSpPr>
        <p:spPr>
          <a:xfrm>
            <a:off x="1143000" y="2103120"/>
            <a:ext cx="4754880" cy="320040"/>
          </a:xfrm>
          <a:prstGeom prst="rect">
            <a:avLst/>
          </a:prstGeom>
          <a:noFill/>
        </p:spPr>
        <p:txBody>
          <a:bodyPr wrap="square" lIns="0" rIns="0" tIns="0" bIns="0">
            <a:spAutoFit/>
          </a:bodyPr>
          <a:lstStyle/>
          <a:p>
            <a:pPr algn="l">
              <a:spcAft>
                <a:spcPts val="600"/>
              </a:spcAft>
            </a:pPr>
            <a:r>
              <a:rPr sz="1600" b="1" i="0">
                <a:solidFill>
                  <a:srgbClr val="CF7133"/>
                </a:solidFill>
                <a:latin typeface="Aptos"/>
              </a:rPr>
              <a:t>The limits</a:t>
            </a:r>
          </a:p>
        </p:txBody>
      </p:sp>
      <p:sp>
        <p:nvSpPr>
          <p:cNvPr id="6" name="TextBox 5"/>
          <p:cNvSpPr txBox="1"/>
          <p:nvPr/>
        </p:nvSpPr>
        <p:spPr>
          <a:xfrm>
            <a:off x="1143000" y="2514600"/>
            <a:ext cx="4754880" cy="2926080"/>
          </a:xfrm>
          <a:prstGeom prst="rect">
            <a:avLst/>
          </a:prstGeom>
          <a:noFill/>
        </p:spPr>
        <p:txBody>
          <a:bodyPr wrap="square" lIns="0" rIns="0" tIns="0" bIns="0">
            <a:spAutoFit/>
          </a:bodyPr>
          <a:lstStyle/>
          <a:p>
            <a:pPr algn="l">
              <a:spcAft>
                <a:spcPts val="1400"/>
              </a:spcAft>
            </a:pPr>
            <a:r>
              <a:rPr sz="1300" b="1" i="0">
                <a:solidFill>
                  <a:srgbClr val="363D46"/>
                </a:solidFill>
                <a:latin typeface="Aptos"/>
              </a:rPr>
              <a:t>Moderate discrimination: ROC-AUC 0.736</a:t>
            </a:r>
          </a:p>
          <a:p>
            <a:pPr algn="l">
              <a:spcAft>
                <a:spcPts val="1400"/>
              </a:spcAft>
            </a:pPr>
            <a:r>
              <a:rPr sz="1300" b="0" i="0">
                <a:solidFill>
                  <a:srgbClr val="363D46"/>
                </a:solidFill>
                <a:latin typeface="Aptos"/>
              </a:rPr>
              <a:t>58.1% of referrals are not food insecure; 19.3% of at-risk households are missed</a:t>
            </a:r>
          </a:p>
          <a:p>
            <a:pPr algn="l">
              <a:spcAft>
                <a:spcPts val="1400"/>
              </a:spcAft>
            </a:pPr>
            <a:r>
              <a:rPr sz="1300" b="0" i="0">
                <a:solidFill>
                  <a:srgbClr val="363D46"/>
                </a:solidFill>
                <a:latin typeface="Aptos"/>
              </a:rPr>
              <a:t>A proxy target from eight self-reported items, on one cross-sectional wave - association, never cause</a:t>
            </a:r>
          </a:p>
          <a:p>
            <a:pPr algn="l">
              <a:spcAft>
                <a:spcPts val="1400"/>
              </a:spcAft>
            </a:pPr>
            <a:r>
              <a:rPr sz="1300" b="0" i="0">
                <a:solidFill>
                  <a:srgbClr val="363D46"/>
                </a:solidFill>
                <a:latin typeface="Aptos"/>
              </a:rPr>
              <a:t>No external validation, and recall is weakest where risk is least expected</a:t>
            </a:r>
          </a:p>
        </p:txBody>
      </p:sp>
      <p:sp>
        <p:nvSpPr>
          <p:cNvPr id="7" name="TextBox 6"/>
          <p:cNvSpPr txBox="1"/>
          <p:nvPr/>
        </p:nvSpPr>
        <p:spPr>
          <a:xfrm>
            <a:off x="6291072" y="2103120"/>
            <a:ext cx="4754880" cy="320040"/>
          </a:xfrm>
          <a:prstGeom prst="rect">
            <a:avLst/>
          </a:prstGeom>
          <a:noFill/>
        </p:spPr>
        <p:txBody>
          <a:bodyPr wrap="square" lIns="0" rIns="0" tIns="0" bIns="0">
            <a:spAutoFit/>
          </a:bodyPr>
          <a:lstStyle/>
          <a:p>
            <a:pPr algn="l">
              <a:spcAft>
                <a:spcPts val="600"/>
              </a:spcAft>
            </a:pPr>
            <a:r>
              <a:rPr sz="1600" b="1" i="0">
                <a:solidFill>
                  <a:srgbClr val="363D46"/>
                </a:solidFill>
                <a:latin typeface="Aptos"/>
              </a:rPr>
              <a:t>What we would do next</a:t>
            </a:r>
          </a:p>
        </p:txBody>
      </p:sp>
      <p:sp>
        <p:nvSpPr>
          <p:cNvPr id="8" name="TextBox 7"/>
          <p:cNvSpPr txBox="1"/>
          <p:nvPr/>
        </p:nvSpPr>
        <p:spPr>
          <a:xfrm>
            <a:off x="6291072" y="2514600"/>
            <a:ext cx="4754880" cy="2926080"/>
          </a:xfrm>
          <a:prstGeom prst="rect">
            <a:avLst/>
          </a:prstGeom>
          <a:noFill/>
        </p:spPr>
        <p:txBody>
          <a:bodyPr wrap="square" lIns="0" rIns="0" tIns="0" bIns="0">
            <a:spAutoFit/>
          </a:bodyPr>
          <a:lstStyle/>
          <a:p>
            <a:pPr algn="l">
              <a:spcAft>
                <a:spcPts val="1400"/>
              </a:spcAft>
            </a:pPr>
            <a:r>
              <a:rPr sz="1300" b="1" i="0">
                <a:solidFill>
                  <a:srgbClr val="363D46"/>
                </a:solidFill>
                <a:latin typeface="Aptos"/>
              </a:rPr>
              <a:t>Capture follow-up outcomes, so the next model trains on what was found</a:t>
            </a:r>
          </a:p>
          <a:p>
            <a:pPr algn="l">
              <a:spcAft>
                <a:spcPts val="1400"/>
              </a:spcAft>
            </a:pPr>
            <a:r>
              <a:rPr sz="1300" b="0" i="0">
                <a:solidFill>
                  <a:srgbClr val="363D46"/>
                </a:solidFill>
                <a:latin typeface="Aptos"/>
              </a:rPr>
              <a:t>Add a second survey wave for within-household change</a:t>
            </a:r>
          </a:p>
          <a:p>
            <a:pPr algn="l">
              <a:spcAft>
                <a:spcPts val="1400"/>
              </a:spcAft>
            </a:pPr>
            <a:r>
              <a:rPr sz="1300" b="0" i="0">
                <a:solidFill>
                  <a:srgbClr val="363D46"/>
                </a:solidFill>
                <a:latin typeface="Aptos"/>
              </a:rPr>
              <a:t>Bring in per-person income, employment, debt and local food prices</a:t>
            </a:r>
          </a:p>
          <a:p>
            <a:pPr algn="l">
              <a:spcAft>
                <a:spcPts val="1400"/>
              </a:spcAft>
            </a:pPr>
            <a:r>
              <a:rPr sz="1300" b="0" i="0">
                <a:solidFill>
                  <a:srgbClr val="363D46"/>
                </a:solidFill>
                <a:latin typeface="Aptos"/>
              </a:rPr>
              <a:t>Re-validate on a new release before extending the threshold to it</a:t>
            </a:r>
          </a:p>
        </p:txBody>
      </p:sp>
      <p:sp>
        <p:nvSpPr>
          <p:cNvPr id="9" name="TextBox 8"/>
          <p:cNvSpPr txBox="1"/>
          <p:nvPr/>
        </p:nvSpPr>
        <p:spPr>
          <a:xfrm>
            <a:off x="1143000" y="5440680"/>
            <a:ext cx="9902952" cy="411480"/>
          </a:xfrm>
          <a:prstGeom prst="rect">
            <a:avLst/>
          </a:prstGeom>
          <a:noFill/>
        </p:spPr>
        <p:txBody>
          <a:bodyPr wrap="square" lIns="0" rIns="0" tIns="0" bIns="0">
            <a:spAutoFit/>
          </a:bodyPr>
          <a:lstStyle/>
          <a:p>
            <a:pPr algn="l">
              <a:spcAft>
                <a:spcPts val="600"/>
              </a:spcAft>
            </a:pPr>
            <a:r>
              <a:rPr sz="1600" b="1" i="0">
                <a:solidFill>
                  <a:srgbClr val="363D46"/>
                </a:solidFill>
                <a:latin typeface="Aptos"/>
              </a:rPr>
              <a:t>A cheap, interpretable, monitored triage aid that finds four in five at-risk households and knows which ones it misses.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TM03457485[[fn=Mesh]]</Template>
  <TotalTime>30</TotalTime>
  <Words>259</Words>
  <Application>Microsoft Office PowerPoint</Application>
  <PresentationFormat>Widescreen</PresentationFormat>
  <Paragraphs>39</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Arial</vt:lpstr>
      <vt:lpstr>Century Gothic</vt:lpstr>
      <vt:lpstr>Mesh</vt:lpstr>
      <vt:lpstr>Bin 381 Milestone 4 Group 1</vt:lpstr>
      <vt:lpstr>Goal and Approach</vt:lpstr>
      <vt:lpstr>Data Strategy</vt:lpstr>
      <vt:lpstr>Modelling approach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Alexander Solomon</dc:creator>
  <cp:lastModifiedBy>Alexander Solomon</cp:lastModifiedBy>
  <cp:revision>1</cp:revision>
  <dcterms:created xsi:type="dcterms:W3CDTF">2026-10-19T16:30:35Z</dcterms:created>
  <dcterms:modified xsi:type="dcterms:W3CDTF">2026-10-19T17:01:12Z</dcterms:modified>
</cp:coreProperties>
</file>