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solidFill>
              <a:srgbClr val="2878BD"/>
            </a:solidFill>
          </c:spPr>
          <c:cat>
            <c:strRef>
              <c:f>Sheet1!$A$2:$A$5</c:f>
              <c:strCache>
                <c:ptCount val="4"/>
                <c:pt idx="0">
                  <c:v>Household income (log)</c:v>
                </c:pt>
                <c:pt idx="1">
                  <c:v>Grant recipients</c:v>
                </c:pt>
                <c:pt idx="2">
                  <c:v>Income per person</c:v>
                </c:pt>
                <c:pt idx="3">
                  <c:v>Income change vs a year ago</c:v>
                </c:pt>
              </c:strCache>
            </c:strRef>
          </c:cat>
          <c:val>
            <c:numRef>
              <c:f>Sheet1!$B$2:$B$5</c:f>
              <c:numCache>
                <c:formatCode>0.000</c:formatCode>
                <c:ptCount val="4"/>
                <c:pt idx="0">
                  <c:v>0.021</c:v>
                </c:pt>
                <c:pt idx="1">
                  <c:v>0.029</c:v>
                </c:pt>
                <c:pt idx="2">
                  <c:v>0.033</c:v>
                </c:pt>
                <c:pt idx="3">
                  <c:v>0.082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100" b="1">
                  <a:solidFill>
                    <a:srgbClr val="201F1E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01F1E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Our question was not what causes food insecurity, it was a targeting question: when a</a:t>
            </a:r>
          </a:p>
          <a:p>
            <a:r>
              <a:t>policy institute can only follow up a fraction of households, which ones should it visit first?</a:t>
            </a:r>
          </a:p>
          <a:p/>
          <a:p>
            <a:r>
              <a:t>We built a screening model on the General Household Survey 2024, a Power BI dashboard for the</a:t>
            </a:r>
          </a:p>
          <a:p>
            <a:r>
              <a:t>programme manager who sets that capacity, and a Shiny tool for the official assessing a household at</a:t>
            </a:r>
          </a:p>
          <a:p>
            <a:r>
              <a:t>the door. Alexander takes the problem, the data and the modelling; Rudi the results and the</a:t>
            </a:r>
          </a:p>
          <a:p>
            <a:r>
              <a:t>dashboard; Timothy the app, the recommendations and the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stakeholder is a policy institute of the Department of Social Development type. It cannot visit</a:t>
            </a:r>
          </a:p>
          <a:p>
            <a:r>
              <a:t>everyone, so the useful question is who to visit first.</a:t>
            </a:r>
          </a:p>
          <a:p/>
          <a:p>
            <a:r>
              <a:t>Our evidence is the General Household Survey 2024: 20,940 households, and eight questions about</a:t>
            </a:r>
          </a:p>
          <a:p>
            <a:r>
              <a:t>running out of food, skipping meals and going hungry. Counting the yes answers gives a food</a:t>
            </a:r>
          </a:p>
          <a:p>
            <a:r>
              <a:t>insecurity score, and three in ten households score at least one.</a:t>
            </a:r>
          </a:p>
          <a:p/>
          <a:p>
            <a:r>
              <a:t>Note the wording of BO2: interpretable, and without leakage. We will come back to both - the eight</a:t>
            </a:r>
          </a:p>
          <a:p>
            <a:r>
              <a:t>food questions that define the target can never be inputs to the model that predicts it.</a:t>
            </a:r>
          </a:p>
          <a:p/>
          <a:p>
            <a:r>
              <a:t>Drafted from sections 1 to 3 of the report, which are Alexander's. He presents this slide and should change any wording he would not say.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files were left out on purpose, and we can defend each: D01 to D03 are about people, not</a:t>
            </a:r>
          </a:p>
          <a:p>
            <a:r>
              <a:t>households, so using them would force an aggregation choice for every variable; D11 is a different</a:t>
            </a:r>
          </a:p>
          <a:p>
            <a:r>
              <a:t>survey with no household IDs in common.</a:t>
            </a:r>
          </a:p>
          <a:p/>
          <a:p>
            <a:r>
              <a:t>The second row is my favourite finding. Milestone 1 reported about 260 duplicate household IDs per</a:t>
            </a:r>
          </a:p>
          <a:p>
            <a:r>
              <a:t>file. They were not duplicates - an 18-digit ID read as a number loses its last digits, so different</a:t>
            </a:r>
          </a:p>
          <a:p>
            <a:r>
              <a:t>households collapsed onto the same value. Reading IDs as text made the problem vanish.</a:t>
            </a:r>
          </a:p>
          <a:p/>
          <a:p>
            <a:r>
              <a:t>The last row is the leakage rule. The target counts eight food questions, so those eight and eight</a:t>
            </a:r>
          </a:p>
          <a:p>
            <a:r>
              <a:t>related follow-ups are excluded from the predictors, and the notebook fails if any of them appears in</a:t>
            </a:r>
          </a:p>
          <a:p>
            <a:r>
              <a:t>the modelling data.</a:t>
            </a:r>
          </a:p>
          <a:p/>
          <a:p>
            <a:r>
              <a:t>Drafted from sections 1 to 3 of the report, which are Alexander's. He presents this slide and should change any wording he would not say.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model families, one more than the minimum, chosen to cover the trade-off between</a:t>
            </a:r>
          </a:p>
          <a:p>
            <a:r>
              <a:t>interpretability and performance: a regularised logistic regression whose coefficients map onto our</a:t>
            </a:r>
          </a:p>
          <a:p>
            <a:r>
              <a:t>hypotheses, a tree for readable rules, and a random forest as the performance benchmark.</a:t>
            </a:r>
          </a:p>
          <a:p/>
          <a:p>
            <a:r>
              <a:t>The honest part of this slide is the right-hand side. The three-tier target failed. The middle tier -</a:t>
            </a:r>
          </a:p>
          <a:p>
            <a:r>
              <a:t>about one household in ten - cannot be separated from its neighbours with these predictors, and we</a:t>
            </a:r>
          </a:p>
          <a:p>
            <a:r>
              <a:t>had committed in advance to the fallback rather than inventing a reason afterwards. So we fitted a</a:t>
            </a:r>
          </a:p>
          <a:p>
            <a:r>
              <a:t>fourth model on a single question: is this household at risk of any food insecurity?</a:t>
            </a:r>
          </a:p>
          <a:p/>
          <a:p>
            <a:r>
              <a:t>Accuracy is never the selection metric here. Predicting food secure for everyone scores 69%.</a:t>
            </a:r>
          </a:p>
          <a:p/>
          <a:p>
            <a:r>
              <a:t>Drafted from sections 1 to 3 of the report, which are Alexander's. He presents this slide and should change any wording he would not say.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chose the threshold before we looked at the test data, using a rule agreed with the problem in</a:t>
            </a:r>
          </a:p>
          <a:p>
            <a:r>
              <a:t>mind: find at least 80% of at-risk households, at the fewest referrals. That lands on 0.24. On data</a:t>
            </a:r>
          </a:p>
          <a:p>
            <a:r>
              <a:t>the model had never seen it finds 80.7% of at-risk households, and 85.7% of the severely food</a:t>
            </a:r>
          </a:p>
          <a:p>
            <a:r>
              <a:t>insecure - the ones we least want to miss.</a:t>
            </a:r>
          </a:p>
          <a:p/>
          <a:p>
            <a:r>
              <a:t>The cost is in the third column. Four in ten referrals are households that turn out to be food</a:t>
            </a:r>
          </a:p>
          <a:p>
            <a:r>
              <a:t>secure, and we send three in five households for follow-up. That is a real operational load, and it</a:t>
            </a:r>
          </a:p>
          <a:p>
            <a:r>
              <a:t>is a dial, not a fact: push the threshold up and you visit fewer households but miss more. The dial</a:t>
            </a:r>
          </a:p>
          <a:p>
            <a:r>
              <a:t>is in the dashboard so programme managers can set it against the capacity they actually have.</a:t>
            </a:r>
          </a:p>
          <a:p/>
          <a:p>
            <a:r>
              <a:t>One thing worth saying plainly: the random forest scored very slightly better, by about 0.009 AUC. We</a:t>
            </a:r>
          </a:p>
          <a:p>
            <a:r>
              <a:t>did not take it. This tool has to justify every referral to an official, and a logistic regression</a:t>
            </a:r>
          </a:p>
          <a:p>
            <a:r>
              <a:t>gives one interpretable number per factor. We traded a fraction of a point of accuracy for an</a:t>
            </a:r>
          </a:p>
          <a:p>
            <a:r>
              <a:t>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strongest single signal is not income level - it is income change. Whether a household is worse</a:t>
            </a:r>
          </a:p>
          <a:p>
            <a:r>
              <a:t>off than a year ago matters more than any other answer we collect, by a factor of about two and a</a:t>
            </a:r>
          </a:p>
          <a:p>
            <a:r>
              <a:t>half. That is a cheap question, and it is actionable: it can be asked at intake, in one sentence,</a:t>
            </a:r>
          </a:p>
          <a:p>
            <a:r>
              <a:t>before anything else.</a:t>
            </a:r>
          </a:p>
          <a:p/>
          <a:p>
            <a:r>
              <a:t>Two findings surprised us. Grant-receiving households are more food insecure, not less: 37.6%</a:t>
            </a:r>
          </a:p>
          <a:p>
            <a:r>
              <a:t>against 20.6%. That is not evidence that grants cause harm; grants are means-tested, so they mark</a:t>
            </a:r>
          </a:p>
          <a:p>
            <a:r>
              <a:t>households that were already poor. We cannot separate targeting from effect in a single survey wave,</a:t>
            </a:r>
          </a:p>
          <a:p>
            <a:r>
              <a:t>and we say so in the report rather than hiding it.</a:t>
            </a:r>
          </a:p>
          <a:p/>
          <a:p>
            <a:r>
              <a:t>The second is the right-hand side, and it is the honest limitation of the tool. The screen finds 94%</a:t>
            </a:r>
          </a:p>
          <a:p>
            <a:r>
              <a:t>of at-risk households at the bottom of the income scale and 39% at the top. It is weakest exactly</a:t>
            </a:r>
          </a:p>
          <a:p>
            <a:r>
              <a:t>where food insecurity is least expected. So a lower-risk result is not clearance, and we keep</a:t>
            </a:r>
          </a:p>
          <a:p>
            <a:r>
              <a:t>self-referral channels open because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script, in this order, and do not improvise.</a:t>
            </a:r>
          </a:p>
          <a:p/>
          <a:p>
            <a:r>
              <a:t>1. Open on the Overview page. Six decision questions; every page answers one of them - that was the</a:t>
            </a:r>
          </a:p>
          <a:p>
            <a:r>
              <a:t>   design rule.</a:t>
            </a:r>
          </a:p>
          <a:p>
            <a:r>
              <a:t>2. Go to "How well does the screening tool work?". Point at the four cards: these are the numbers</a:t>
            </a:r>
          </a:p>
          <a:p>
            <a:r>
              <a:t>   from the previous slide, live from the final dataset.</a:t>
            </a:r>
          </a:p>
          <a:p>
            <a:r>
              <a:t>3. Type 0.30 into the threshold box and press Enter - dragging is fiddly on a projector. Recall drops</a:t>
            </a:r>
          </a:p>
          <a:p>
            <a:r>
              <a:t>   from 80.7% to 67.8%, referrals from 59% to 44%. That is 150 fewer households per thousand to</a:t>
            </a:r>
          </a:p>
          <a:p>
            <a:r>
              <a:t>   visit, and about one in eight at-risk households newly missed. This is the conversation we want</a:t>
            </a:r>
          </a:p>
          <a:p>
            <a:r>
              <a:t>   managers to have with us, and it is why the dial is in the tool rather than in a footnote.</a:t>
            </a:r>
          </a:p>
          <a:p>
            <a:r>
              <a:t>4. Put it back to 0.24.</a:t>
            </a:r>
          </a:p>
          <a:p>
            <a:r>
              <a:t>5. Go to "Which households does the screen miss?". Click through the breakdown slicer: income, then</a:t>
            </a:r>
          </a:p>
          <a:p>
            <a:r>
              <a:t>   grant receipt, then province. Same chart, five cuts. The band is our agreed 10-point tolerance;</a:t>
            </a:r>
          </a:p>
          <a:p>
            <a:r>
              <a:t>   income above R11,500 sits far outside it, and that is a documented limitation, not a surprise.</a:t>
            </a:r>
          </a:p>
          <a:p>
            <a:r>
              <a:t>6. Go to "What should we ask about to spot risk early?". Income change at the top, and the odds-ratio</a:t>
            </a:r>
          </a:p>
          <a:p>
            <a:r>
              <a:t>   table beside it with confidence intervals, because a direction without an interval is not</a:t>
            </a:r>
          </a:p>
          <a:p>
            <a:r>
              <a:t>   evidence.</a:t>
            </a:r>
          </a:p>
          <a:p>
            <a:r>
              <a:t>7. Hand to Timothy for the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demo, in this order:</a:t>
            </a:r>
          </a:p>
          <a:p/>
          <a:p>
            <a:r>
              <a:t>1. One household. Type the rural example: income fell sharply, no electricity, six people, R1,200 a</a:t>
            </a:r>
          </a:p>
          <a:p>
            <a:r>
              <a:t>   month, two grant recipients, pit latrine. Score it. Point at the three factors the app gives</a:t>
            </a:r>
          </a:p>
          <a:p>
            <a:r>
              <a:t>   back, and at the words it uses - "Higher risk: refer for review", never "food insecure".</a:t>
            </a:r>
          </a:p>
          <a:p>
            <a:r>
              <a:t>2. The contrast. Change income to R30,000 and settlement to urban, re-score, and let the probability</a:t>
            </a:r>
          </a:p>
          <a:p>
            <a:r>
              <a:t>   drop. That is the whole model in one gesture.</a:t>
            </a:r>
          </a:p>
          <a:p>
            <a:r>
              <a:t>3. The batch. Upload tests/messy_households.csv - 13 deliberately broken rows. Scroll the issues</a:t>
            </a:r>
          </a:p>
          <a:p>
            <a:r>
              <a:t>   table: sentinel codes recoded, an impossible household size rejected, a duplicate identifier</a:t>
            </a:r>
          </a:p>
          <a:p>
            <a:r>
              <a:t>   flagged, rows with too much missing left unscored rather than guessed.</a:t>
            </a:r>
          </a:p>
          <a:p>
            <a:r>
              <a:t>4. The limits page. Land here, not on a score. Read the two lines about which households the screen</a:t>
            </a:r>
          </a:p>
          <a:p>
            <a:r>
              <a:t>   misses.</a:t>
            </a:r>
          </a:p>
          <a:p/>
          <a:p>
            <a:r>
              <a:t>This is the part a field officer actually touches. Seven questions, short enough to ask at a door,</a:t>
            </a:r>
          </a:p>
          <a:p>
            <a:r>
              <a:t>and the answer comes back with the three things that drove it - so the officer can say why a</a:t>
            </a:r>
          </a:p>
          <a:p>
            <a:r>
              <a:t>household was referred, and a supervisor can disagree with it.</a:t>
            </a:r>
          </a:p>
          <a:p/>
          <a:p>
            <a:r>
              <a:t>Likely question - what happens if someone uploads real household IDs? They stay in the file and never</a:t>
            </a:r>
          </a:p>
          <a:p>
            <a:r>
              <a:t>leave the machine. Uploads are processed in memory and not written to disk, identifiers are never</a:t>
            </a:r>
          </a:p>
          <a:p>
            <a:r>
              <a:t>returned in the download, and the monitoring log keeps totals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of these starts from a number on Rudi's slides, and each has a limit attached, because the</a:t>
            </a:r>
          </a:p>
          <a:p>
            <a:r>
              <a:t>limits are what make them safe to act on.</a:t>
            </a:r>
          </a:p>
          <a:p/>
          <a:p>
            <a:r>
              <a:t>The first is a budget decision disguised as a technical one. At our threshold the tool refers about</a:t>
            </a:r>
          </a:p>
          <a:p>
            <a:r>
              <a:t>three households in five, and about four in ten of those referrals turn out to be food secure. That</a:t>
            </a:r>
          </a:p>
          <a:p>
            <a:r>
              <a:t>is the cost of finding four in five of the households that are at risk. Managers should size</a:t>
            </a:r>
          </a:p>
          <a:p>
            <a:r>
              <a:t>follow-up capacity against that rate before go-live - or move the threshold knowingly, which the</a:t>
            </a:r>
          </a:p>
          <a:p>
            <a:r>
              <a:t>dashboard lets them do, and accept that they will miss more people.</a:t>
            </a:r>
          </a:p>
          <a:p/>
          <a:p>
            <a:r>
              <a:t>The second is the cheapest thing on this list. One question about whether income has fallen carries</a:t>
            </a:r>
          </a:p>
          <a:p>
            <a:r>
              <a:t>more signal than anything else we measured, and it can be asked without the model at all.</a:t>
            </a:r>
          </a:p>
          <a:p/>
          <a:p>
            <a:r>
              <a:t>The third needs the caution said out loud. Grant-receiving households are at higher risk because</a:t>
            </a:r>
          </a:p>
          <a:p>
            <a:r>
              <a:t>grants are targeted at poor households. That is a reason to use the registers to find people</a:t>
            </a:r>
          </a:p>
          <a:p>
            <a:r>
              <a:t>quickly. It is not evidence that grants cause food insecurity.</a:t>
            </a:r>
          </a:p>
          <a:p/>
          <a:p>
            <a:r>
              <a:t>The last one is there because of what we found about ourselves. The screen is weakest for households</a:t>
            </a:r>
          </a:p>
          <a:p>
            <a:r>
              <a:t>that do not look poor on our seven inputs. We chose not to patch that with a different threshold for</a:t>
            </a:r>
          </a:p>
          <a:p>
            <a:r>
              <a:t>richer households, because that means treating people differently by income on the basis of a proxy.</a:t>
            </a:r>
          </a:p>
          <a:p>
            <a:r>
              <a:t>We publish the gap instead, and ask for a monthly audit. Keep self-referral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would rather say these ourselves than have them found.</a:t>
            </a:r>
          </a:p>
          <a:p/>
          <a:p>
            <a:r>
              <a:t>An AUC of 0.736 is moderate. It separates risk better than chance by a useful margin, and it is</a:t>
            </a:r>
          </a:p>
          <a:p>
            <a:r>
              <a:t>nowhere near good enough to decide anything on its own - which is exactly why the design keeps a</a:t>
            </a:r>
          </a:p>
          <a:p>
            <a:r>
              <a:t>person in the loop and why we talk about referrals rather than decisions.</a:t>
            </a:r>
          </a:p>
          <a:p/>
          <a:p>
            <a:r>
              <a:t>The deeper limitation is the target. We never observed whether a household went without food. We</a:t>
            </a:r>
          </a:p>
          <a:p>
            <a:r>
              <a:t>built a proxy out of eight survey answers and predicted it from seven other answers about the same</a:t>
            </a:r>
          </a:p>
          <a:p>
            <a:r>
              <a:t>household at the same moment. That tells you who looks like the households that report hunger. It</a:t>
            </a:r>
          </a:p>
          <a:p>
            <a:r>
              <a:t>does not tell you why, and it cannot tell you what would change if you intervened. The reversed</a:t>
            </a:r>
          </a:p>
          <a:p>
            <a:r>
              <a:t>grant result is the clearest case: targeting and effect cannot be separated in one cross-section.</a:t>
            </a:r>
          </a:p>
          <a:p/>
          <a:p>
            <a:r>
              <a:t>So the first thing on the right matters most. The moment officials record what they actually found</a:t>
            </a:r>
          </a:p>
          <a:p>
            <a:r>
              <a:t>when they visited, we can retrain on real outcomes instead of a survey proxy, and measure precision</a:t>
            </a:r>
          </a:p>
          <a:p>
            <a:r>
              <a:t>in the field rather than against our own label.</a:t>
            </a:r>
          </a:p>
          <a:p/>
          <a:p>
            <a:r>
              <a:t>Until then, the honest summary is the line at the bottom. Thank you - we are happy to take questions</a:t>
            </a:r>
          </a:p>
          <a:p>
            <a:r>
              <a:t>on any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1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92024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Finding the households most at risk of food insecurity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0"/>
            <a:ext cx="8961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D2D0CE"/>
                </a:solidFill>
                <a:latin typeface="Calibri"/>
              </a:rPr>
              <a:t>A screening aid for targeting limited support, built on the Stats SA General Household Survey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120640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70B0E0"/>
                </a:solidFill>
                <a:latin typeface="Calibri"/>
              </a:rPr>
              <a:t>Group P1  ·  BIN381 Milestone 4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2D0CE"/>
                </a:solidFill>
                <a:latin typeface="Calibri"/>
              </a:rPr>
              <a:t>Alexander Solomon  ·  Rudi Jan du Plessis  ·  Timothy Wubbeling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05E5C"/>
                </a:solidFill>
                <a:latin typeface="Calibri"/>
              </a:rPr>
              <a:t>2/10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201F1E"/>
                </a:solidFill>
                <a:latin typeface="Calibri"/>
              </a:rPr>
              <a:t>Three in ten households are food insecure, and support reaches a fraction of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01F1E"/>
                </a:solidFill>
                <a:latin typeface="Calibri"/>
              </a:rPr>
              <a:t>The institute has to choose which households to follow up. We rank them by risk, so scarce field capacity goes where it is most likely to find a household that needs it. The tool advises an official; it never decides eligibility.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560320"/>
            <a:ext cx="3291840" cy="141732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1520" y="2670048"/>
            <a:ext cx="29260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2878BD"/>
                </a:solidFill>
                <a:latin typeface="Calibri"/>
              </a:rPr>
              <a:t>20,940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1071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05E5C"/>
                </a:solidFill>
                <a:latin typeface="Calibri"/>
              </a:rPr>
              <a:t>households surveyed, all nine provinces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2560320"/>
            <a:ext cx="3291840" cy="141732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343400" y="2670048"/>
            <a:ext cx="29260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15628"/>
                </a:solidFill>
                <a:latin typeface="Calibri"/>
              </a:rPr>
              <a:t>30.6%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41071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05E5C"/>
                </a:solidFill>
                <a:latin typeface="Calibri"/>
              </a:rPr>
              <a:t>report running out of food, skipping meals or going hungry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2560320"/>
            <a:ext cx="3291840" cy="141732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955280" y="2670048"/>
            <a:ext cx="29260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0EB194"/>
                </a:solidFill>
                <a:latin typeface="Calibri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341071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05E5C"/>
                </a:solidFill>
                <a:latin typeface="Calibri"/>
              </a:rPr>
              <a:t>survey questions behind the food-insecurity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4340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878BD"/>
                </a:solidFill>
                <a:latin typeface="Calibri"/>
              </a:rPr>
              <a:t>What we promised in Milestone 1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01F1E"/>
                </a:solidFill>
                <a:latin typeface="Calibri"/>
              </a:rPr>
              <a:t>BO1  Rank the household indicators most associated with food insecurity, with an effect size.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01F1E"/>
                </a:solidFill>
                <a:latin typeface="Calibri"/>
              </a:rPr>
              <a:t>BO2  Build an interpretable model, without leakage, tested on held-out data.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01F1E"/>
                </a:solidFill>
                <a:latin typeface="Calibri"/>
              </a:rPr>
              <a:t>BO3  Give decision-makers self-service exploration by province and household type.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1036289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605E5C"/>
                </a:solidFill>
                <a:latin typeface="Calibri"/>
              </a:rPr>
              <a:t>Six hypotheses about what puts a household at risk - income, settlement, size, electricity, grants, sanitation - are answered in sections 4 and 7 of the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05E5C"/>
                </a:solidFill>
                <a:latin typeface="Calibri"/>
              </a:rPr>
              <a:t>3/10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201F1E"/>
                </a:solidFill>
                <a:latin typeface="Calibri"/>
              </a:rPr>
              <a:t>Seven of eleven survey files, joined without losing a single household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81328"/>
          <a:ext cx="110642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931920"/>
                <a:gridCol w="4114800"/>
              </a:tblGrid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878BD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anchor="ctr" marL="73152" marR="73152" marT="36576" marB="36576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878BD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anchor="ctr" marL="73152" marR="73152" marT="36576" marB="36576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878BD"/>
                          </a:solidFill>
                          <a:latin typeface="Calibri"/>
                        </a:rPr>
                        <a:t>What it changed</a:t>
                      </a:r>
                    </a:p>
                  </a:txBody>
                  <a:tcPr anchor="ctr" marL="73152" marR="73152" marT="36576" marB="36576">
                    <a:solidFill>
                      <a:srgbClr val="F3F6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Keep seven household-level files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D01-D03 are person-level; D11 is a different survey with no shared IDs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One row per household, key HouseholdID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Read every ID as text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18-digit IDs lose their last digits when read as numbers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The 256-272 'duplicate households' per file disappeared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Guarded one-to-one joins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A plain join drops or duplicates rows silently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15 placeholder keys in D05 repaired, not dropped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Refused and 'unspecified' codes to missing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9, 99, 9999999 are not real answers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451 households have no usable income; imputed in-fold only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Exclude the 8 food items and 8 related columns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They define the target, so they cannot predict it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Asserted in code; 8 predictors remain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834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878BD"/>
                </a:solidFill>
                <a:latin typeface="Calibri"/>
              </a:rPr>
              <a:t>20,940 households integrated  -&gt;  15 cannot be scored  -&gt;  20,925 modelled  -&gt;  14,646 train / 6,279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1036289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605E5C"/>
                </a:solidFill>
                <a:latin typeface="Calibri"/>
              </a:rPr>
              <a:t>Every treatment is logged in data/clean/qa_log_personC.csv and every column's source and treatment in the Milestone 2 data dictionary. The test set was not used for any modelling decision.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05E5C"/>
                </a:solidFill>
                <a:latin typeface="Calibri"/>
              </a:rPr>
              <a:t>4/10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201F1E"/>
                </a:solidFill>
                <a:latin typeface="Calibri"/>
              </a:rPr>
              <a:t>Four candidates, cross-validated, and a deliberate switch to a yes-or-no screen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81328"/>
          <a:ext cx="6492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737360"/>
                <a:gridCol w="1737360"/>
              </a:tblGrid>
              <a:tr h="42062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878BD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 marT="36576" marB="36576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878BD"/>
                          </a:solidFill>
                          <a:latin typeface="Calibri"/>
                        </a:rPr>
                        <a:t>Three-tier CV ROC-AUC</a:t>
                      </a:r>
                    </a:p>
                  </a:txBody>
                  <a:tcPr anchor="ctr" marL="73152" marR="73152" marT="36576" marB="36576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878BD"/>
                          </a:solidFill>
                          <a:latin typeface="Calibri"/>
                        </a:rPr>
                        <a:t>Screening CV ROC-AUC</a:t>
                      </a:r>
                    </a:p>
                  </a:txBody>
                  <a:tcPr anchor="ctr" marL="73152" marR="73152" marT="36576" marB="36576">
                    <a:solidFill>
                      <a:srgbClr val="F3F6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Multinomial logistic (glmnet)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0.669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0.734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Decision tree (rpart)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0.658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0.721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Random forest (ranger)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0.673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0.739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Binary logistic (glmnet, lasso)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not applicable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0.733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81328"/>
            <a:ext cx="42062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878BD"/>
                </a:solidFill>
                <a:latin typeface="Calibri"/>
              </a:rPr>
              <a:t>Why the target changed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01F1E"/>
                </a:solidFill>
                <a:latin typeface="Calibri"/>
              </a:rPr>
              <a:t>We began with three tiers because the brief asks for vulnerability levels, and wrote down in advance that we would fall back to a yes-or-no screen if the middle tier could not be separated.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01F1E"/>
                </a:solidFill>
                <a:latin typeface="Calibri"/>
              </a:rPr>
              <a:t>It could not: no three-tier model recalls more than 3.2% of mildly-to-moderately insecure households. The app also needs one probability per household.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6492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605E5C"/>
                </a:solidFill>
                <a:latin typeface="Calibri"/>
              </a:rPr>
              <a:t>Stratified 5-fold cross-validation, seed 381, on the training set only. Preprocessing is re-learned inside every fold, so nothing leaks from the test set. Package versions are pinned with renv.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1036289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605E5C"/>
                </a:solidFill>
                <a:latin typeface="Calibri"/>
              </a:rPr>
              <a:t>Class weights were tested and rejected: they tripled severe-tier recall but halved recall on food-secure households and wrecked calibration. Imbalance is handled at the threshold instead.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05E5C"/>
                </a:solidFill>
                <a:latin typeface="Calibri"/>
              </a:rPr>
              <a:t>5/10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201F1E"/>
                </a:solidFill>
                <a:latin typeface="Calibri"/>
              </a:rPr>
              <a:t>The screen finds 4 in 5 at-risk households, and refers 3 in 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2560320" cy="141732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572768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2878BD"/>
                </a:solidFill>
                <a:latin typeface="Calibri"/>
              </a:rPr>
              <a:t>80.7%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1343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05E5C"/>
                </a:solidFill>
                <a:latin typeface="Calibri"/>
              </a:rPr>
              <a:t>of at-risk households found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7560" y="1463040"/>
            <a:ext cx="2560320" cy="141732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520440" y="1572768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CB714"/>
                </a:solidFill>
                <a:latin typeface="Calibri"/>
              </a:rPr>
              <a:t>41.9%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31343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05E5C"/>
                </a:solidFill>
                <a:latin typeface="Calibri"/>
              </a:rPr>
              <a:t>of referrals are genuinely at risk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63040"/>
            <a:ext cx="2560320" cy="141732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09360" y="1572768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0EB194"/>
                </a:solidFill>
                <a:latin typeface="Calibri"/>
              </a:rPr>
              <a:t>58.9%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31343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05E5C"/>
                </a:solidFill>
                <a:latin typeface="Calibri"/>
              </a:rPr>
              <a:t>of households sent for follow-up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15400" y="1463040"/>
            <a:ext cx="2560320" cy="141732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098280" y="1572768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2878BD"/>
                </a:solidFill>
                <a:latin typeface="Calibri"/>
              </a:rPr>
              <a:t>0.736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231343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05E5C"/>
                </a:solidFill>
                <a:latin typeface="Calibri"/>
              </a:rPr>
              <a:t>ROC-AUC (0.5 would be a coin flip)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32004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280160"/>
                <a:gridCol w="1371600"/>
                <a:gridCol w="6035040"/>
              </a:tblGrid>
              <a:tr h="42062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878BD"/>
                          </a:solidFill>
                          <a:latin typeface="Calibri"/>
                        </a:rPr>
                        <a:t>Threshold</a:t>
                      </a:r>
                    </a:p>
                  </a:txBody>
                  <a:tcPr anchor="ctr" marL="73152" marR="73152" marT="36576" marB="36576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878BD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anchor="ctr" marL="73152" marR="73152" marT="36576" marB="36576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878BD"/>
                          </a:solidFill>
                          <a:latin typeface="Calibri"/>
                        </a:rPr>
                        <a:t>Referred</a:t>
                      </a:r>
                    </a:p>
                  </a:txBody>
                  <a:tcPr anchor="ctr" marL="73152" marR="73152" marT="36576" marB="36576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878BD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 marL="73152" marR="73152" marT="36576" marB="36576">
                    <a:solidFill>
                      <a:srgbClr val="F3F6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0.14 (F2-optimal)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95.9%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83.8%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Rejected: refers five households in six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15628"/>
                          </a:solidFill>
                          <a:latin typeface="Calibri"/>
                        </a:rPr>
                        <a:t>0.24 (chosen)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15628"/>
                          </a:solidFill>
                          <a:latin typeface="Calibri"/>
                        </a:rPr>
                        <a:t>80.7%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15628"/>
                          </a:solidFill>
                          <a:latin typeface="Calibri"/>
                        </a:rPr>
                        <a:t>58.9%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At least 80% recall, at the fewest referrals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67.8%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43.8%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150 fewer visits per 1,000, 1 in 8 at-risk newly missed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0.50 (default)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31.1%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15.2%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Rejected: misses 68.9% of at-risk households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48640" y="5989320"/>
            <a:ext cx="1036289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605E5C"/>
                </a:solidFill>
                <a:latin typeface="Calibri"/>
              </a:rPr>
              <a:t>Measured once on a held-out test set of 6,279 households. Cross-validated AUC 0.733 against 0.736 on test, so there is no meaningful overfitting; Brier 0.180 and calibration error 0.012.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05E5C"/>
                </a:solidFill>
                <a:latin typeface="Calibri"/>
              </a:rPr>
              <a:t>6/10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201F1E"/>
                </a:solidFill>
                <a:latin typeface="Calibri"/>
              </a:rPr>
              <a:t>A recent fall in income is the warning sign - but the screen is blind to the comfortable poor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878BD"/>
                </a:solidFill>
                <a:latin typeface="Calibri"/>
              </a:rPr>
              <a:t>What drives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47088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05E5C"/>
                </a:solidFill>
                <a:latin typeface="Calibri"/>
              </a:rPr>
              <a:t>Permutation importance: drop in ROC-AUC when the variable is shuffled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2240280"/>
          <a:ext cx="5669280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84632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201F1E"/>
                </a:solidFill>
                <a:latin typeface="Calibri"/>
              </a:rPr>
              <a:t>58.3% of households whose income fell sharply are food insecure, against 18-21% mid-scale.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481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F15628"/>
                </a:solidFill>
                <a:latin typeface="Calibri"/>
              </a:rPr>
              <a:t>Where the screen is weakest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84708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05E5C"/>
                </a:solidFill>
                <a:latin typeface="Calibri"/>
              </a:rPr>
              <a:t>Recall by subgroup, against the overall 80.7%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0" y="2240280"/>
          <a:ext cx="5029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3736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878BD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73152" marR="73152" marT="36576" marB="36576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878BD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anchor="ctr" marL="73152" marR="73152" marT="36576" marB="36576">
                    <a:solidFill>
                      <a:srgbClr val="F3F6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Calibri"/>
                        </a:rPr>
                        <a:t>Earning under R2,500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Calibri"/>
                        </a:rPr>
                        <a:t>94.0%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15628"/>
                          </a:solidFill>
                          <a:latin typeface="Calibri"/>
                        </a:rPr>
                        <a:t>Earning over R11,500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15628"/>
                          </a:solidFill>
                          <a:latin typeface="Calibri"/>
                        </a:rPr>
                        <a:t>39.2%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Calibri"/>
                        </a:rPr>
                        <a:t>Receives grants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Calibri"/>
                        </a:rPr>
                        <a:t>88.0%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15628"/>
                          </a:solidFill>
                          <a:latin typeface="Calibri"/>
                        </a:rPr>
                        <a:t>No grants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15628"/>
                          </a:solidFill>
                          <a:latin typeface="Calibri"/>
                        </a:rPr>
                        <a:t>61.7%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0" y="484632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201F1E"/>
                </a:solidFill>
                <a:latin typeface="Calibri"/>
              </a:rPr>
              <a:t>Grant households are more food insecure, not less - 37.6% against 20.6%. Grants are means-tested, so they mark households that were already poor. Targeting, not cause.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89320"/>
            <a:ext cx="1036289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201F1E"/>
                </a:solidFill>
                <a:latin typeface="Calibri"/>
              </a:rPr>
              <a:t>A low score is not clearance. It is the absence of a flag, which is why self-referral stays open.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05E5C"/>
                </a:solidFill>
                <a:latin typeface="Calibri"/>
              </a:rPr>
              <a:t>7/10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201F1E"/>
                </a:solidFill>
                <a:latin typeface="Calibri"/>
              </a:rPr>
              <a:t>Dashboard demo: setting the threshold against real capacity</a:t>
            </a:r>
          </a:p>
        </p:txBody>
      </p:sp>
      <p:pic>
        <p:nvPicPr>
          <p:cNvPr id="4" name="Picture 3" descr="pbi_b1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6949440" cy="39066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572768"/>
            <a:ext cx="38404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2878BD"/>
                </a:solidFill>
                <a:latin typeface="Calibri"/>
              </a:rPr>
              <a:t>Three questions, live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201F1E"/>
                </a:solidFill>
                <a:latin typeface="Calibri"/>
              </a:rPr>
              <a:t>How well the screening tool works - and what a different threshold would cost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201F1E"/>
                </a:solidFill>
                <a:latin typeface="Calibri"/>
              </a:rPr>
              <a:t>Which households the screen misses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201F1E"/>
                </a:solidFill>
                <a:latin typeface="Calibri"/>
              </a:rPr>
              <a:t>What to ask about to spot risk early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023360"/>
            <a:ext cx="3840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605E5C"/>
                </a:solidFill>
                <a:latin typeface="Calibri"/>
              </a:rPr>
              <a:t>Nine pages. Pages 1 to 6 each answer one decision question; pages 7 to 9 are the evidence behind them, including a reconciliation page that compares every figure with 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1036289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605E5C"/>
                </a:solidFill>
                <a:latin typeface="Calibri"/>
              </a:rPr>
              <a:t>If the live demo fails: the screenshots carry the same three numbers. Do not debug on stage.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05E5C"/>
                </a:solidFill>
                <a:latin typeface="Calibri"/>
              </a:rPr>
              <a:t>8/10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201F1E"/>
                </a:solidFill>
                <a:latin typeface="Calibri"/>
              </a:rPr>
              <a:t>An official can score one household in about ten seconds</a:t>
            </a:r>
          </a:p>
        </p:txBody>
      </p:sp>
      <p:pic>
        <p:nvPicPr>
          <p:cNvPr id="4" name="Picture 3" descr="app_1_single_house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474720" cy="2543719"/>
          </a:xfrm>
          <a:prstGeom prst="rect">
            <a:avLst/>
          </a:prstGeom>
        </p:spPr>
      </p:pic>
      <p:pic>
        <p:nvPicPr>
          <p:cNvPr id="5" name="Picture 4" descr="app_2_batch_up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1481328"/>
            <a:ext cx="3474720" cy="3815578"/>
          </a:xfrm>
          <a:prstGeom prst="rect">
            <a:avLst/>
          </a:prstGeom>
        </p:spPr>
      </p:pic>
      <p:pic>
        <p:nvPicPr>
          <p:cNvPr id="6" name="Picture 5" descr="app_3_about_and_limi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8" y="1481328"/>
            <a:ext cx="3474720" cy="22893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9319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878BD"/>
                </a:solidFill>
                <a:latin typeface="Calibri"/>
              </a:rPr>
              <a:t>One household, scored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39319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878BD"/>
                </a:solidFill>
                <a:latin typeface="Calibri"/>
              </a:rPr>
              <a:t>A batch, with the issues it refused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8" y="39319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878BD"/>
                </a:solidFill>
                <a:latin typeface="Calibri"/>
              </a:rPr>
              <a:t>What the tool cannot tell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634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01F1E"/>
                </a:solidFill>
                <a:latin typeface="Calibri"/>
              </a:rPr>
              <a:t>Seven questions in. A probability, a recommendation and the three reasons 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25780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05E5C"/>
                </a:solidFill>
                <a:latin typeface="Calibri"/>
              </a:rPr>
              <a:t>The words are deliberate: "Higher risk: refer for review", never "food insecure". Rows with impossible values are left unscored rather than guessed - a screening tool that guesses when it does not know is worse than one that abstains.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89320"/>
            <a:ext cx="1036289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201F1E"/>
                </a:solidFill>
                <a:latin typeface="Calibri"/>
              </a:rPr>
              <a:t>All 6,279 test households were pushed back through the app's own code path and compared with the saved predictions. Largest difference: zero.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05E5C"/>
                </a:solidFill>
                <a:latin typeface="Calibri"/>
              </a:rPr>
              <a:t>9/10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201F1E"/>
                </a:solidFill>
                <a:latin typeface="Calibri"/>
              </a:rPr>
              <a:t>Five actions, each with the caution attached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8132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5120640"/>
                <a:gridCol w="2011680"/>
              </a:tblGrid>
              <a:tr h="6583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878BD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anchor="ctr" marL="73152" marR="73152" marT="36576" marB="36576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878BD"/>
                          </a:solidFill>
                          <a:latin typeface="Calibri"/>
                        </a:rPr>
                        <a:t>The number behind it</a:t>
                      </a:r>
                    </a:p>
                  </a:txBody>
                  <a:tcPr anchor="ctr" marL="73152" marR="73152" marT="36576" marB="36576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878BD"/>
                          </a:solidFill>
                          <a:latin typeface="Calibri"/>
                        </a:rPr>
                        <a:t>Who acts</a:t>
                      </a:r>
                    </a:p>
                  </a:txBody>
                  <a:tcPr anchor="ctr" marL="73152" marR="73152" marT="36576" marB="36576">
                    <a:solidFill>
                      <a:srgbClr val="F3F6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Use it for outreach triage, and resource the referral rate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refers 58.9% of households; 41.9% of referrals are at risk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Programme managers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Ask about income change over the past year at intake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strongest single predictor, AUC drop 0.082, about 2.5x the next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Field staff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Coordinate relief with the grant registers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37.6% of grant-receiving households at risk against 20.6% without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Social development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Fund the four highest-risk provinces first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Eastern Cape 43.0%, Northern Cape 40.5%, North West 37.1%, Mpumalanga 35.5%, against 28.3% nationally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Provincial teams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Audit "lower risk" households where the screen is weakest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recall 39.2% above R11,500 and 61.7% with no grants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1F1E"/>
                          </a:solidFill>
                          <a:latin typeface="Calibri"/>
                        </a:rPr>
                        <a:t>Field officers, monthly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5778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CB714"/>
                </a:solidFill>
                <a:latin typeface="Calibri"/>
              </a:rPr>
              <a:t>A screening aid. An official reviews every referral, and a low score is never clearance.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1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D2D0CE"/>
                </a:solidFill>
                <a:latin typeface="Calibri"/>
              </a:rPr>
              <a:t>10/10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this cannot tell you, and what we would do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CB714"/>
                </a:solidFill>
                <a:latin typeface="Calibri"/>
              </a:rPr>
              <a:t>The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3949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D2D0CE"/>
                </a:solidFill>
                <a:latin typeface="Calibri"/>
              </a:rPr>
              <a:t>Moderate discrimination: ROC-AUC 0.736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D2D0CE"/>
                </a:solidFill>
                <a:latin typeface="Calibri"/>
              </a:rPr>
              <a:t>58.1% of referrals are not food insecure; 19.3% of at-risk households are missed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D2D0CE"/>
                </a:solidFill>
                <a:latin typeface="Calibri"/>
              </a:rPr>
              <a:t>A proxy target from eight self-reported items, on one cross-sectional wave - association, never cause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D2D0CE"/>
                </a:solidFill>
                <a:latin typeface="Calibri"/>
              </a:rPr>
              <a:t>No external validation, and recall is weakest where risk is least expected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4630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70B0E0"/>
                </a:solidFill>
                <a:latin typeface="Calibri"/>
              </a:rPr>
              <a:t>What we would do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51206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D2D0CE"/>
                </a:solidFill>
                <a:latin typeface="Calibri"/>
              </a:rPr>
              <a:t>Capture follow-up outcomes, so the next model trains on what was found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D2D0CE"/>
                </a:solidFill>
                <a:latin typeface="Calibri"/>
              </a:rPr>
              <a:t>Add a second survey wave for within-household change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D2D0CE"/>
                </a:solidFill>
                <a:latin typeface="Calibri"/>
              </a:rPr>
              <a:t>Bring in per-person income, employment, debt and local food prices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D2D0CE"/>
                </a:solidFill>
                <a:latin typeface="Calibri"/>
              </a:rPr>
              <a:t>Re-validate on a new release before extending the threshold to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9496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 cheap, interpretable, monitored triage aid that finds four in five at-risk households and knows which ones it misses.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89320"/>
            <a:ext cx="1036289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D2D0CE"/>
                </a:solidFill>
                <a:latin typeface="Calibri"/>
              </a:rPr>
              <a:t>Survey data, not a census. A screening aid, not an eligibility test.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